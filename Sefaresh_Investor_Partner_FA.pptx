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Vazirmatn" pitchFamily="2"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t>Source: Sefaresh_Brand_Identity_final-FA.pdf, supplied by the user. Pages 1, 4, 13, 22. The café scene is an illustrative brand reference, not a photograph of an actual customer. Founder name supplied by the user: اردشیر آذری. Typeface: Vazirmatn by Saber Rastikerdar, https://github.com/rastikerdar/vazirmatn (SIL Open Font 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4–5. This describes the target problem identified in the brand brief, not quantified customer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4, 7, 20–21. Proposed product value and workflow; feature availability has not been independently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5–7. Target segment and role needs, not verified customer counts or named customers.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 20, figure 6. Original source screenshot retained as a visual reference. All supplier names, quantities and prices in this screenshot are hypothetical. This is not a live product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4–5, 25–26. Proposed initial geography and sequencing. No market-size estimate or exclusive local-market claim is made.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7–9. These are proposed differentiation dimensions, not proven exclusivity or verified absence of these features at competitors. The common alternative is buying by phone or messaging from a familiar supplier.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 8. The brief states subscriptions plus supplier commissions of 1–5%, with 1% for subscribed suppliers. Subscription pricing, realized revenue, unit economics and commercial validation are not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t>Source: Sefaresh_Brand_Identity_final-FA.pdf, supplied by the user. Page 8 attributes approximately five years of barista and café-management experience to the founder. The user identified the founder as اردشیر آذری. No additional team credentials are assumed.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5, 25–26. Suggested pilot sequence synthesized from customer research, limited initial basket and baseline measurement guidance. No committed dates, budgets or participant counts are asserted.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 26 lists pilot experience metrics. The unit-economics categories on this slide are an additional proposed investor evaluation framework, not reported results. Current traction, market sizing, funding amount and realized economics were not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Sefaresh_Brand_Identity_final-FA.pdf, supplied by the user. Pages 5–6, 18–19, 25–26. Partnership options are proposed discussion areas, not existing agreements or a specific authorized fundraising request. Rosha is the illustrative brand mascot from the supplied PDF, not a person or team member. Founder name confirmed by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8" name="text-1-0">
            <a:extLst>
              <a:ext uri="{FF2B5EF4-FFF2-40B4-BE49-F238E27FC236}">
                <a16:creationId xmlns:a16="http://schemas.microsoft.com/office/drawing/2014/main" id="{AB294B63-698A-40E9-AED0-77FB97C1A786}"/>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۱</a:t>
            </a:r>
          </a:p>
        </p:txBody>
      </p:sp>
      <p:pic>
        <p:nvPicPr>
          <p:cNvPr id="9" name="Picture 8"/>
          <p:cNvPicPr>
            <a:picLocks noChangeAspect="1"/>
          </p:cNvPicPr>
          <p:nvPr/>
        </p:nvPicPr>
        <p:blipFill>
          <a:blip r:embed="rId3"/>
          <a:srcRect l="25741" r="25741"/>
          <a:stretch>
            <a:fillRect/>
          </a:stretch>
        </p:blipFill>
        <p:spPr>
          <a:xfrm>
            <a:off x="0" y="0"/>
            <a:ext cx="4991100" cy="6858000"/>
          </a:xfrm>
          <a:prstGeom prst="rect">
            <a:avLst/>
          </a:prstGeom>
        </p:spPr>
      </p:pic>
      <p:sp>
        <p:nvSpPr>
          <p:cNvPr id="3" name="text-1-1">
            <a:extLst>
              <a:ext uri="{FF2B5EF4-FFF2-40B4-BE49-F238E27FC236}">
                <a16:creationId xmlns:a16="http://schemas.microsoft.com/office/drawing/2014/main" id="{C92E8223-8EF2-4B58-BAE1-2AE71A605EFD}"/>
              </a:ext>
            </a:extLst>
          </p:cNvPr>
          <p:cNvSpPr>
            <a:spLocks noGrp="1"/>
          </p:cNvSpPr>
          <p:nvPr/>
        </p:nvSpPr>
        <p:spPr>
          <a:xfrm>
            <a:off x="5657850" y="457200"/>
            <a:ext cx="5772150" cy="800100"/>
          </a:xfrm>
          <a:prstGeom prst="rect">
            <a:avLst/>
          </a:prstGeom>
          <a:noFill/>
          <a:ln w="0">
            <a:noFill/>
          </a:ln>
        </p:spPr>
        <p:txBody>
          <a:bodyPr wrap="none" lIns="0" tIns="0" rIns="0" bIns="0" anchor="t">
            <a:noAutofit/>
          </a:bodyPr>
          <a:lstStyle/>
          <a:p>
            <a:pPr algn="r" rtl="1">
              <a:lnSpc>
                <a:spcPct val="122000"/>
              </a:lnSpc>
              <a:buNone/>
              <a:defRPr sz="4650" b="1">
                <a:solidFill>
                  <a:srgbClr val="2457D6"/>
                </a:solidFill>
                <a:latin typeface="Vazirmatn"/>
                <a:ea typeface="Vazirmatn"/>
                <a:cs typeface="Vazirmatn"/>
              </a:defRPr>
            </a:pPr>
            <a:r>
              <a:rPr lang="fa-IR" sz="4650" b="1">
                <a:solidFill>
                  <a:srgbClr val="2457D6"/>
                </a:solidFill>
                <a:latin typeface="Vazirmatn"/>
                <a:ea typeface="Vazirmatn"/>
                <a:cs typeface="Vazirmatn"/>
              </a:rPr>
              <a:t>سفارش</a:t>
            </a:r>
          </a:p>
        </p:txBody>
      </p:sp>
      <p:sp>
        <p:nvSpPr>
          <p:cNvPr id="4" name="text-1-2">
            <a:extLst>
              <a:ext uri="{FF2B5EF4-FFF2-40B4-BE49-F238E27FC236}">
                <a16:creationId xmlns:a16="http://schemas.microsoft.com/office/drawing/2014/main" id="{872C2325-1D79-4E6A-992E-25F0D2D8DFB6}"/>
              </a:ext>
            </a:extLst>
          </p:cNvPr>
          <p:cNvSpPr>
            <a:spLocks noGrp="1"/>
          </p:cNvSpPr>
          <p:nvPr/>
        </p:nvSpPr>
        <p:spPr>
          <a:xfrm>
            <a:off x="5429250" y="1362075"/>
            <a:ext cx="6000750" cy="523875"/>
          </a:xfrm>
          <a:prstGeom prst="rect">
            <a:avLst/>
          </a:prstGeom>
          <a:noFill/>
          <a:ln w="0">
            <a:noFill/>
          </a:ln>
        </p:spPr>
        <p:txBody>
          <a:bodyPr wrap="none" lIns="0" tIns="0" rIns="0" bIns="0" anchor="t">
            <a:noAutofit/>
          </a:bodyPr>
          <a:lstStyle/>
          <a:p>
            <a:pPr algn="r" rtl="1">
              <a:lnSpc>
                <a:spcPct val="122000"/>
              </a:lnSpc>
              <a:buNone/>
              <a:defRPr sz="1950" b="0">
                <a:solidFill>
                  <a:srgbClr val="142B4A"/>
                </a:solidFill>
                <a:latin typeface="Vazirmatn"/>
                <a:ea typeface="Vazirmatn"/>
                <a:cs typeface="Vazirmatn"/>
              </a:defRPr>
            </a:pPr>
            <a:r>
              <a:rPr lang="fa-IR" sz="1950" b="0">
                <a:solidFill>
                  <a:srgbClr val="142B4A"/>
                </a:solidFill>
                <a:latin typeface="Vazirmatn"/>
                <a:ea typeface="Vazirmatn"/>
                <a:cs typeface="Vazirmatn"/>
              </a:rPr>
              <a:t>دستیار خرید مواد اولیه کافه و رستوران</a:t>
            </a:r>
          </a:p>
        </p:txBody>
      </p:sp>
      <p:sp>
        <p:nvSpPr>
          <p:cNvPr id="5" name="text-1-3">
            <a:extLst>
              <a:ext uri="{FF2B5EF4-FFF2-40B4-BE49-F238E27FC236}">
                <a16:creationId xmlns:a16="http://schemas.microsoft.com/office/drawing/2014/main" id="{9E52B39E-8733-4C09-83BB-DD5C63892EE9}"/>
              </a:ext>
            </a:extLst>
          </p:cNvPr>
          <p:cNvSpPr>
            <a:spLocks noGrp="1"/>
          </p:cNvSpPr>
          <p:nvPr/>
        </p:nvSpPr>
        <p:spPr>
          <a:xfrm>
            <a:off x="5448300" y="2428875"/>
            <a:ext cx="5981700" cy="1885950"/>
          </a:xfrm>
          <a:prstGeom prst="rect">
            <a:avLst/>
          </a:prstGeom>
          <a:noFill/>
          <a:ln w="0">
            <a:noFill/>
          </a:ln>
        </p:spPr>
        <p:txBody>
          <a:bodyPr wrap="none" lIns="0" tIns="0" rIns="0" bIns="0" anchor="t">
            <a:noAutofit/>
          </a:bodyPr>
          <a:lstStyle/>
          <a:p>
            <a:pPr algn="r" rtl="1">
              <a:lnSpc>
                <a:spcPct val="122000"/>
              </a:lnSpc>
              <a:buNone/>
              <a:defRPr sz="4500" b="1">
                <a:solidFill>
                  <a:srgbClr val="142B4A"/>
                </a:solidFill>
                <a:latin typeface="Vazirmatn"/>
                <a:ea typeface="Vazirmatn"/>
                <a:cs typeface="Vazirmatn"/>
              </a:defRPr>
            </a:pPr>
            <a:r>
              <a:rPr lang="fa-IR" sz="4500" b="1">
                <a:solidFill>
                  <a:srgbClr val="142B4A"/>
                </a:solidFill>
                <a:latin typeface="Vazirmatn"/>
                <a:ea typeface="Vazirmatn"/>
                <a:cs typeface="Vazirmatn"/>
              </a:rPr>
              <a:t>خرید مواد اولیه</a:t>
            </a:r>
          </a:p>
          <a:p>
            <a:pPr algn="r" rtl="1">
              <a:lnSpc>
                <a:spcPct val="122000"/>
              </a:lnSpc>
              <a:buNone/>
              <a:defRPr sz="4500" b="1">
                <a:solidFill>
                  <a:srgbClr val="142B4A"/>
                </a:solidFill>
                <a:latin typeface="Vazirmatn"/>
                <a:ea typeface="Vazirmatn"/>
                <a:cs typeface="Vazirmatn"/>
              </a:defRPr>
            </a:pPr>
            <a:r>
              <a:rPr lang="fa-IR" sz="4500" b="1">
                <a:solidFill>
                  <a:srgbClr val="142B4A"/>
                </a:solidFill>
                <a:latin typeface="Vazirmatn"/>
                <a:ea typeface="Vazirmatn"/>
                <a:cs typeface="Vazirmatn"/>
              </a:rPr>
              <a:t>آسان شد</a:t>
            </a:r>
          </a:p>
        </p:txBody>
      </p:sp>
      <p:sp>
        <p:nvSpPr>
          <p:cNvPr id="6" name="text-1-4">
            <a:extLst>
              <a:ext uri="{FF2B5EF4-FFF2-40B4-BE49-F238E27FC236}">
                <a16:creationId xmlns:a16="http://schemas.microsoft.com/office/drawing/2014/main" id="{7300336D-59C6-4C49-98A8-0085A8549959}"/>
              </a:ext>
            </a:extLst>
          </p:cNvPr>
          <p:cNvSpPr>
            <a:spLocks noGrp="1"/>
          </p:cNvSpPr>
          <p:nvPr/>
        </p:nvSpPr>
        <p:spPr>
          <a:xfrm>
            <a:off x="5238750" y="4886325"/>
            <a:ext cx="6191250" cy="419100"/>
          </a:xfrm>
          <a:prstGeom prst="rect">
            <a:avLst/>
          </a:prstGeom>
          <a:noFill/>
          <a:ln w="0">
            <a:noFill/>
          </a:ln>
        </p:spPr>
        <p:txBody>
          <a:bodyPr wrap="none" lIns="0" tIns="0" rIns="0" bIns="0" anchor="t">
            <a:noAutofit/>
          </a:bodyPr>
          <a:lstStyle/>
          <a:p>
            <a:pPr algn="r" rtl="1">
              <a:lnSpc>
                <a:spcPct val="122000"/>
              </a:lnSpc>
              <a:buNone/>
              <a:defRPr sz="1650" b="0">
                <a:solidFill>
                  <a:srgbClr val="58677C"/>
                </a:solidFill>
                <a:latin typeface="Vazirmatn"/>
                <a:ea typeface="Vazirmatn"/>
                <a:cs typeface="Vazirmatn"/>
              </a:defRPr>
            </a:pPr>
            <a:r>
              <a:rPr lang="fa-IR" sz="1650" b="0">
                <a:solidFill>
                  <a:srgbClr val="58677C"/>
                </a:solidFill>
                <a:latin typeface="Vazirmatn"/>
                <a:ea typeface="Vazirmatn"/>
                <a:cs typeface="Vazirmatn"/>
              </a:rPr>
              <a:t>معرفی کسب‌وکار برای سرمایه‌گذاران و شرکای تجاری</a:t>
            </a:r>
          </a:p>
        </p:txBody>
      </p:sp>
      <p:sp>
        <p:nvSpPr>
          <p:cNvPr id="7" name="text-1-5">
            <a:extLst>
              <a:ext uri="{FF2B5EF4-FFF2-40B4-BE49-F238E27FC236}">
                <a16:creationId xmlns:a16="http://schemas.microsoft.com/office/drawing/2014/main" id="{E5319A6C-5D0C-478C-8BC4-7B9ECFAAB667}"/>
              </a:ext>
            </a:extLst>
          </p:cNvPr>
          <p:cNvSpPr>
            <a:spLocks noGrp="1"/>
          </p:cNvSpPr>
          <p:nvPr/>
        </p:nvSpPr>
        <p:spPr>
          <a:xfrm>
            <a:off x="5429250" y="5581650"/>
            <a:ext cx="6000750" cy="466725"/>
          </a:xfrm>
          <a:prstGeom prst="rect">
            <a:avLst/>
          </a:prstGeom>
          <a:noFill/>
          <a:ln w="0">
            <a:noFill/>
          </a:ln>
        </p:spPr>
        <p:txBody>
          <a:bodyPr wrap="none" lIns="0" tIns="0" rIns="0" bIns="0" anchor="t">
            <a:noAutofit/>
          </a:bodyPr>
          <a:lstStyle/>
          <a:p>
            <a:pPr algn="r" rtl="1">
              <a:lnSpc>
                <a:spcPct val="122000"/>
              </a:lnSpc>
              <a:buNone/>
              <a:defRPr sz="2100" b="1">
                <a:solidFill>
                  <a:srgbClr val="142B4A"/>
                </a:solidFill>
                <a:latin typeface="Vazirmatn"/>
                <a:ea typeface="Vazirmatn"/>
                <a:cs typeface="Vazirmatn"/>
              </a:defRPr>
            </a:pPr>
            <a:r>
              <a:rPr lang="fa-IR" sz="2100" b="1">
                <a:solidFill>
                  <a:srgbClr val="142B4A"/>
                </a:solidFill>
                <a:latin typeface="Vazirmatn"/>
                <a:ea typeface="Vazirmatn"/>
                <a:cs typeface="Vazirmatn"/>
              </a:rPr>
              <a:t>بنیان‌گذار: اردشیر آذری</a:t>
            </a:r>
          </a:p>
        </p:txBody>
      </p:sp>
    </p:spTree>
    <p:extLst>
      <p:ext uri="{BB962C8B-B14F-4D97-AF65-F5344CB8AC3E}">
        <p14:creationId xmlns:p14="http://schemas.microsoft.com/office/powerpoint/2010/main" val="886706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2-0">
            <a:extLst>
              <a:ext uri="{FF2B5EF4-FFF2-40B4-BE49-F238E27FC236}">
                <a16:creationId xmlns:a16="http://schemas.microsoft.com/office/drawing/2014/main" id="{630D4956-6831-4C5D-BAA6-0E30DDACB0BA}"/>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خرید روزمره، اطلاعات پراکنده</a:t>
            </a:r>
          </a:p>
        </p:txBody>
      </p:sp>
      <p:sp>
        <p:nvSpPr>
          <p:cNvPr id="2" name="text-2-1">
            <a:extLst>
              <a:ext uri="{FF2B5EF4-FFF2-40B4-BE49-F238E27FC236}">
                <a16:creationId xmlns:a16="http://schemas.microsoft.com/office/drawing/2014/main" id="{CC2291FC-3DEC-4664-BC6F-235C66EB2ED1}"/>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۲</a:t>
            </a:r>
          </a:p>
        </p:txBody>
      </p:sp>
      <p:sp>
        <p:nvSpPr>
          <p:cNvPr id="3" name="text-2-2">
            <a:extLst>
              <a:ext uri="{FF2B5EF4-FFF2-40B4-BE49-F238E27FC236}">
                <a16:creationId xmlns:a16="http://schemas.microsoft.com/office/drawing/2014/main" id="{53DCFFC6-DAEC-44AB-BFDB-7FFEA32718CE}"/>
              </a:ext>
            </a:extLst>
          </p:cNvPr>
          <p:cNvSpPr>
            <a:spLocks noGrp="1"/>
          </p:cNvSpPr>
          <p:nvPr/>
        </p:nvSpPr>
        <p:spPr>
          <a:xfrm>
            <a:off x="8991600" y="2019300"/>
            <a:ext cx="2476500" cy="619125"/>
          </a:xfrm>
          <a:prstGeom prst="rect">
            <a:avLst/>
          </a:prstGeom>
          <a:noFill/>
          <a:ln w="0">
            <a:noFill/>
          </a:ln>
        </p:spPr>
        <p:txBody>
          <a:bodyPr wrap="none" lIns="0" tIns="0" rIns="0" bIns="0" anchor="t">
            <a:noAutofit/>
          </a:bodyPr>
          <a:lstStyle/>
          <a:p>
            <a:pPr algn="r" rtl="1">
              <a:lnSpc>
                <a:spcPct val="122000"/>
              </a:lnSpc>
              <a:buNone/>
              <a:defRPr sz="3450" b="1">
                <a:solidFill>
                  <a:srgbClr val="2457D6"/>
                </a:solidFill>
                <a:latin typeface="Vazirmatn"/>
                <a:ea typeface="Vazirmatn"/>
                <a:cs typeface="Vazirmatn"/>
              </a:defRPr>
            </a:pPr>
            <a:r>
              <a:rPr lang="fa-IR" sz="3450" b="1">
                <a:solidFill>
                  <a:srgbClr val="2457D6"/>
                </a:solidFill>
                <a:latin typeface="Vazirmatn"/>
                <a:ea typeface="Vazirmatn"/>
                <a:cs typeface="Vazirmatn"/>
              </a:rPr>
              <a:t>۰۱</a:t>
            </a:r>
          </a:p>
        </p:txBody>
      </p:sp>
      <p:sp>
        <p:nvSpPr>
          <p:cNvPr id="4" name="text-2-3">
            <a:extLst>
              <a:ext uri="{FF2B5EF4-FFF2-40B4-BE49-F238E27FC236}">
                <a16:creationId xmlns:a16="http://schemas.microsoft.com/office/drawing/2014/main" id="{69F4F9B2-7CA7-4F3B-82E8-AC05EF55DEB0}"/>
              </a:ext>
            </a:extLst>
          </p:cNvPr>
          <p:cNvSpPr>
            <a:spLocks noGrp="1"/>
          </p:cNvSpPr>
          <p:nvPr/>
        </p:nvSpPr>
        <p:spPr>
          <a:xfrm>
            <a:off x="8991600" y="2895600"/>
            <a:ext cx="247650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نیاز در پیام</a:t>
            </a:r>
          </a:p>
        </p:txBody>
      </p:sp>
      <p:sp>
        <p:nvSpPr>
          <p:cNvPr id="5" name="text-2-4">
            <a:extLst>
              <a:ext uri="{FF2B5EF4-FFF2-40B4-BE49-F238E27FC236}">
                <a16:creationId xmlns:a16="http://schemas.microsoft.com/office/drawing/2014/main" id="{EA0FFC3A-25F4-475D-93D7-B01DF6B8594D}"/>
              </a:ext>
            </a:extLst>
          </p:cNvPr>
          <p:cNvSpPr>
            <a:spLocks noGrp="1"/>
          </p:cNvSpPr>
          <p:nvPr/>
        </p:nvSpPr>
        <p:spPr>
          <a:xfrm>
            <a:off x="8991600" y="3695700"/>
            <a:ext cx="2476500" cy="971550"/>
          </a:xfrm>
          <a:prstGeom prst="rect">
            <a:avLst/>
          </a:prstGeom>
          <a:noFill/>
          <a:ln w="0">
            <a:noFill/>
          </a:ln>
        </p:spPr>
        <p:txBody>
          <a:bodyPr wrap="none" lIns="0" tIns="0" rIns="0" bIns="0" anchor="t">
            <a:noAutofit/>
          </a:bodyPr>
          <a:lstStyle/>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درخواست‌ها میان افراد</a:t>
            </a:r>
          </a:p>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و کانال‌ها پخش می‌شوند.</a:t>
            </a:r>
          </a:p>
        </p:txBody>
      </p:sp>
      <p:sp>
        <p:nvSpPr>
          <p:cNvPr id="6" name="text-2-5">
            <a:extLst>
              <a:ext uri="{FF2B5EF4-FFF2-40B4-BE49-F238E27FC236}">
                <a16:creationId xmlns:a16="http://schemas.microsoft.com/office/drawing/2014/main" id="{1755ADB9-00B3-4F53-937D-AFFB9D894D82}"/>
              </a:ext>
            </a:extLst>
          </p:cNvPr>
          <p:cNvSpPr>
            <a:spLocks noGrp="1"/>
          </p:cNvSpPr>
          <p:nvPr/>
        </p:nvSpPr>
        <p:spPr>
          <a:xfrm>
            <a:off x="6210300" y="2019300"/>
            <a:ext cx="2476500" cy="619125"/>
          </a:xfrm>
          <a:prstGeom prst="rect">
            <a:avLst/>
          </a:prstGeom>
          <a:noFill/>
          <a:ln w="0">
            <a:noFill/>
          </a:ln>
        </p:spPr>
        <p:txBody>
          <a:bodyPr wrap="none" lIns="0" tIns="0" rIns="0" bIns="0" anchor="t">
            <a:noAutofit/>
          </a:bodyPr>
          <a:lstStyle/>
          <a:p>
            <a:pPr algn="r" rtl="1">
              <a:lnSpc>
                <a:spcPct val="122000"/>
              </a:lnSpc>
              <a:buNone/>
              <a:defRPr sz="3450" b="1">
                <a:solidFill>
                  <a:srgbClr val="2457D6"/>
                </a:solidFill>
                <a:latin typeface="Vazirmatn"/>
                <a:ea typeface="Vazirmatn"/>
                <a:cs typeface="Vazirmatn"/>
              </a:defRPr>
            </a:pPr>
            <a:r>
              <a:rPr lang="fa-IR" sz="3450" b="1">
                <a:solidFill>
                  <a:srgbClr val="2457D6"/>
                </a:solidFill>
                <a:latin typeface="Vazirmatn"/>
                <a:ea typeface="Vazirmatn"/>
                <a:cs typeface="Vazirmatn"/>
              </a:rPr>
              <a:t>۰۲</a:t>
            </a:r>
          </a:p>
        </p:txBody>
      </p:sp>
      <p:sp>
        <p:nvSpPr>
          <p:cNvPr id="7" name="text-2-6">
            <a:extLst>
              <a:ext uri="{FF2B5EF4-FFF2-40B4-BE49-F238E27FC236}">
                <a16:creationId xmlns:a16="http://schemas.microsoft.com/office/drawing/2014/main" id="{BB480394-5675-49F7-A445-11C0198E9CCB}"/>
              </a:ext>
            </a:extLst>
          </p:cNvPr>
          <p:cNvSpPr>
            <a:spLocks noGrp="1"/>
          </p:cNvSpPr>
          <p:nvPr/>
        </p:nvSpPr>
        <p:spPr>
          <a:xfrm>
            <a:off x="6210300" y="2895600"/>
            <a:ext cx="247650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قیمت در تماس</a:t>
            </a:r>
          </a:p>
        </p:txBody>
      </p:sp>
      <p:sp>
        <p:nvSpPr>
          <p:cNvPr id="8" name="text-2-7">
            <a:extLst>
              <a:ext uri="{FF2B5EF4-FFF2-40B4-BE49-F238E27FC236}">
                <a16:creationId xmlns:a16="http://schemas.microsoft.com/office/drawing/2014/main" id="{1438D428-D9F2-4916-9375-894879E2D049}"/>
              </a:ext>
            </a:extLst>
          </p:cNvPr>
          <p:cNvSpPr>
            <a:spLocks noGrp="1"/>
          </p:cNvSpPr>
          <p:nvPr/>
        </p:nvSpPr>
        <p:spPr>
          <a:xfrm>
            <a:off x="6210300" y="3695700"/>
            <a:ext cx="2476500" cy="971550"/>
          </a:xfrm>
          <a:prstGeom prst="rect">
            <a:avLst/>
          </a:prstGeom>
          <a:noFill/>
          <a:ln w="0">
            <a:noFill/>
          </a:ln>
        </p:spPr>
        <p:txBody>
          <a:bodyPr wrap="none" lIns="0" tIns="0" rIns="0" bIns="0" anchor="t">
            <a:noAutofit/>
          </a:bodyPr>
          <a:lstStyle/>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مقایسه قیمت و شرایط</a:t>
            </a:r>
          </a:p>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به چند تماس وابسته است.</a:t>
            </a:r>
          </a:p>
        </p:txBody>
      </p:sp>
      <p:sp>
        <p:nvSpPr>
          <p:cNvPr id="9" name="text-2-8">
            <a:extLst>
              <a:ext uri="{FF2B5EF4-FFF2-40B4-BE49-F238E27FC236}">
                <a16:creationId xmlns:a16="http://schemas.microsoft.com/office/drawing/2014/main" id="{333C13D2-44C9-4FF8-A387-0C878C8B124D}"/>
              </a:ext>
            </a:extLst>
          </p:cNvPr>
          <p:cNvSpPr>
            <a:spLocks noGrp="1"/>
          </p:cNvSpPr>
          <p:nvPr/>
        </p:nvSpPr>
        <p:spPr>
          <a:xfrm>
            <a:off x="3429000" y="2019300"/>
            <a:ext cx="2476500" cy="619125"/>
          </a:xfrm>
          <a:prstGeom prst="rect">
            <a:avLst/>
          </a:prstGeom>
          <a:noFill/>
          <a:ln w="0">
            <a:noFill/>
          </a:ln>
        </p:spPr>
        <p:txBody>
          <a:bodyPr wrap="none" lIns="0" tIns="0" rIns="0" bIns="0" anchor="t">
            <a:noAutofit/>
          </a:bodyPr>
          <a:lstStyle/>
          <a:p>
            <a:pPr algn="r" rtl="1">
              <a:lnSpc>
                <a:spcPct val="122000"/>
              </a:lnSpc>
              <a:buNone/>
              <a:defRPr sz="3450" b="1">
                <a:solidFill>
                  <a:srgbClr val="2457D6"/>
                </a:solidFill>
                <a:latin typeface="Vazirmatn"/>
                <a:ea typeface="Vazirmatn"/>
                <a:cs typeface="Vazirmatn"/>
              </a:defRPr>
            </a:pPr>
            <a:r>
              <a:rPr lang="fa-IR" sz="3450" b="1">
                <a:solidFill>
                  <a:srgbClr val="2457D6"/>
                </a:solidFill>
                <a:latin typeface="Vazirmatn"/>
                <a:ea typeface="Vazirmatn"/>
                <a:cs typeface="Vazirmatn"/>
              </a:rPr>
              <a:t>۰۳</a:t>
            </a:r>
          </a:p>
        </p:txBody>
      </p:sp>
      <p:sp>
        <p:nvSpPr>
          <p:cNvPr id="10" name="text-2-9">
            <a:extLst>
              <a:ext uri="{FF2B5EF4-FFF2-40B4-BE49-F238E27FC236}">
                <a16:creationId xmlns:a16="http://schemas.microsoft.com/office/drawing/2014/main" id="{C6403E23-D5B7-48FF-86F6-55914890440E}"/>
              </a:ext>
            </a:extLst>
          </p:cNvPr>
          <p:cNvSpPr>
            <a:spLocks noGrp="1"/>
          </p:cNvSpPr>
          <p:nvPr/>
        </p:nvSpPr>
        <p:spPr>
          <a:xfrm>
            <a:off x="3429000" y="2895600"/>
            <a:ext cx="247650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خرید در دفتر</a:t>
            </a:r>
          </a:p>
        </p:txBody>
      </p:sp>
      <p:sp>
        <p:nvSpPr>
          <p:cNvPr id="11" name="text-2-10">
            <a:extLst>
              <a:ext uri="{FF2B5EF4-FFF2-40B4-BE49-F238E27FC236}">
                <a16:creationId xmlns:a16="http://schemas.microsoft.com/office/drawing/2014/main" id="{66F6A062-825D-4332-AEE9-3C957AD09FB3}"/>
              </a:ext>
            </a:extLst>
          </p:cNvPr>
          <p:cNvSpPr>
            <a:spLocks noGrp="1"/>
          </p:cNvSpPr>
          <p:nvPr/>
        </p:nvSpPr>
        <p:spPr>
          <a:xfrm>
            <a:off x="3429000" y="3695700"/>
            <a:ext cx="2476500" cy="971550"/>
          </a:xfrm>
          <a:prstGeom prst="rect">
            <a:avLst/>
          </a:prstGeom>
          <a:noFill/>
          <a:ln w="0">
            <a:noFill/>
          </a:ln>
        </p:spPr>
        <p:txBody>
          <a:bodyPr wrap="none" lIns="0" tIns="0" rIns="0" bIns="0" anchor="t">
            <a:noAutofit/>
          </a:bodyPr>
          <a:lstStyle/>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سابقه خرید به ثبت</a:t>
            </a:r>
          </a:p>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منظم نیاز دارد.</a:t>
            </a:r>
          </a:p>
        </p:txBody>
      </p:sp>
      <p:sp>
        <p:nvSpPr>
          <p:cNvPr id="12" name="text-2-11">
            <a:extLst>
              <a:ext uri="{FF2B5EF4-FFF2-40B4-BE49-F238E27FC236}">
                <a16:creationId xmlns:a16="http://schemas.microsoft.com/office/drawing/2014/main" id="{57717676-8CFE-4B14-9F7E-F85DB6903BEE}"/>
              </a:ext>
            </a:extLst>
          </p:cNvPr>
          <p:cNvSpPr>
            <a:spLocks noGrp="1"/>
          </p:cNvSpPr>
          <p:nvPr/>
        </p:nvSpPr>
        <p:spPr>
          <a:xfrm>
            <a:off x="647700" y="2019300"/>
            <a:ext cx="2476500" cy="619125"/>
          </a:xfrm>
          <a:prstGeom prst="rect">
            <a:avLst/>
          </a:prstGeom>
          <a:noFill/>
          <a:ln w="0">
            <a:noFill/>
          </a:ln>
        </p:spPr>
        <p:txBody>
          <a:bodyPr wrap="none" lIns="0" tIns="0" rIns="0" bIns="0" anchor="t">
            <a:noAutofit/>
          </a:bodyPr>
          <a:lstStyle/>
          <a:p>
            <a:pPr algn="r" rtl="1">
              <a:lnSpc>
                <a:spcPct val="122000"/>
              </a:lnSpc>
              <a:buNone/>
              <a:defRPr sz="3450" b="1">
                <a:solidFill>
                  <a:srgbClr val="2457D6"/>
                </a:solidFill>
                <a:latin typeface="Vazirmatn"/>
                <a:ea typeface="Vazirmatn"/>
                <a:cs typeface="Vazirmatn"/>
              </a:defRPr>
            </a:pPr>
            <a:r>
              <a:rPr lang="fa-IR" sz="3450" b="1">
                <a:solidFill>
                  <a:srgbClr val="2457D6"/>
                </a:solidFill>
                <a:latin typeface="Vazirmatn"/>
                <a:ea typeface="Vazirmatn"/>
                <a:cs typeface="Vazirmatn"/>
              </a:rPr>
              <a:t>۰۴</a:t>
            </a:r>
          </a:p>
        </p:txBody>
      </p:sp>
      <p:sp>
        <p:nvSpPr>
          <p:cNvPr id="13" name="text-2-12">
            <a:extLst>
              <a:ext uri="{FF2B5EF4-FFF2-40B4-BE49-F238E27FC236}">
                <a16:creationId xmlns:a16="http://schemas.microsoft.com/office/drawing/2014/main" id="{DCA37738-2642-43E5-A87D-1CEE6C93088B}"/>
              </a:ext>
            </a:extLst>
          </p:cNvPr>
          <p:cNvSpPr>
            <a:spLocks noGrp="1"/>
          </p:cNvSpPr>
          <p:nvPr/>
        </p:nvSpPr>
        <p:spPr>
          <a:xfrm>
            <a:off x="647700" y="2895600"/>
            <a:ext cx="247650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هزینه در فاکتورها</a:t>
            </a:r>
          </a:p>
        </p:txBody>
      </p:sp>
      <p:sp>
        <p:nvSpPr>
          <p:cNvPr id="14" name="text-2-13">
            <a:extLst>
              <a:ext uri="{FF2B5EF4-FFF2-40B4-BE49-F238E27FC236}">
                <a16:creationId xmlns:a16="http://schemas.microsoft.com/office/drawing/2014/main" id="{C16FD8E2-153A-4A9D-B8D8-D6AF612B52A8}"/>
              </a:ext>
            </a:extLst>
          </p:cNvPr>
          <p:cNvSpPr>
            <a:spLocks noGrp="1"/>
          </p:cNvSpPr>
          <p:nvPr/>
        </p:nvSpPr>
        <p:spPr>
          <a:xfrm>
            <a:off x="647700" y="3695700"/>
            <a:ext cx="2476500" cy="971550"/>
          </a:xfrm>
          <a:prstGeom prst="rect">
            <a:avLst/>
          </a:prstGeom>
          <a:noFill/>
          <a:ln w="0">
            <a:noFill/>
          </a:ln>
        </p:spPr>
        <p:txBody>
          <a:bodyPr wrap="none" lIns="0" tIns="0" rIns="0" bIns="0" anchor="t">
            <a:noAutofit/>
          </a:bodyPr>
          <a:lstStyle/>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مدیر تصویر هزینه‌ها را</a:t>
            </a:r>
          </a:p>
          <a:p>
            <a:pPr algn="r" rtl="1">
              <a:lnSpc>
                <a:spcPct val="122000"/>
              </a:lnSpc>
              <a:buNone/>
              <a:defRPr sz="1800" b="0">
                <a:solidFill>
                  <a:srgbClr val="58677C"/>
                </a:solidFill>
                <a:latin typeface="Vazirmatn"/>
                <a:ea typeface="Vazirmatn"/>
                <a:cs typeface="Vazirmatn"/>
              </a:defRPr>
            </a:pPr>
            <a:r>
              <a:rPr lang="fa-IR" sz="1800" b="0">
                <a:solidFill>
                  <a:srgbClr val="58677C"/>
                </a:solidFill>
                <a:latin typeface="Vazirmatn"/>
                <a:ea typeface="Vazirmatn"/>
                <a:cs typeface="Vazirmatn"/>
              </a:rPr>
              <a:t>با تأخیر جمع می‌کند.</a:t>
            </a:r>
          </a:p>
        </p:txBody>
      </p:sp>
      <p:sp>
        <p:nvSpPr>
          <p:cNvPr id="15" name="text-2-14">
            <a:extLst>
              <a:ext uri="{FF2B5EF4-FFF2-40B4-BE49-F238E27FC236}">
                <a16:creationId xmlns:a16="http://schemas.microsoft.com/office/drawing/2014/main" id="{F71B392C-E711-4E8C-9E15-E4C1AD5FA7C8}"/>
              </a:ext>
            </a:extLst>
          </p:cNvPr>
          <p:cNvSpPr>
            <a:spLocks noGrp="1"/>
          </p:cNvSpPr>
          <p:nvPr/>
        </p:nvSpPr>
        <p:spPr>
          <a:xfrm>
            <a:off x="685800" y="5314950"/>
            <a:ext cx="10820400" cy="609600"/>
          </a:xfrm>
          <a:prstGeom prst="rect">
            <a:avLst/>
          </a:prstGeom>
          <a:noFill/>
          <a:ln w="0">
            <a:noFill/>
          </a:ln>
        </p:spPr>
        <p:txBody>
          <a:bodyPr wrap="none" lIns="0" tIns="0" rIns="0" bIns="0" anchor="t">
            <a:noAutofit/>
          </a:bodyPr>
          <a:lstStyle/>
          <a:p>
            <a:pPr algn="r" rtl="1">
              <a:lnSpc>
                <a:spcPct val="122000"/>
              </a:lnSpc>
              <a:buNone/>
              <a:defRPr sz="2400" b="1">
                <a:solidFill>
                  <a:srgbClr val="2457D6"/>
                </a:solidFill>
                <a:latin typeface="Vazirmatn"/>
                <a:ea typeface="Vazirmatn"/>
                <a:cs typeface="Vazirmatn"/>
              </a:defRPr>
            </a:pPr>
            <a:r>
              <a:rPr lang="fa-IR" sz="2400" b="1">
                <a:solidFill>
                  <a:srgbClr val="2457D6"/>
                </a:solidFill>
                <a:latin typeface="Vazirmatn"/>
                <a:ea typeface="Vazirmatn"/>
                <a:cs typeface="Vazirmatn"/>
              </a:rPr>
              <a:t>هماهنگی زمان‌بر، احتمال خطای سفارش و پیگیری دشوار</a:t>
            </a:r>
          </a:p>
        </p:txBody>
      </p:sp>
    </p:spTree>
    <p:extLst>
      <p:ext uri="{BB962C8B-B14F-4D97-AF65-F5344CB8AC3E}">
        <p14:creationId xmlns:p14="http://schemas.microsoft.com/office/powerpoint/2010/main" val="143155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16" name="text-3-0">
            <a:extLst>
              <a:ext uri="{FF2B5EF4-FFF2-40B4-BE49-F238E27FC236}">
                <a16:creationId xmlns:a16="http://schemas.microsoft.com/office/drawing/2014/main" id="{D67D5ACE-7166-4219-BF30-E0DF6337E6CA}"/>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FFFFFF"/>
                </a:solidFill>
                <a:latin typeface="Vazirmatn"/>
                <a:ea typeface="Vazirmatn"/>
                <a:cs typeface="Vazirmatn"/>
              </a:defRPr>
            </a:pPr>
            <a:r>
              <a:rPr lang="fa-IR" sz="3300" b="1">
                <a:solidFill>
                  <a:srgbClr val="FFFFFF"/>
                </a:solidFill>
                <a:latin typeface="Vazirmatn"/>
                <a:ea typeface="Vazirmatn"/>
                <a:cs typeface="Vazirmatn"/>
              </a:rPr>
              <a:t>یک مسیر مشترک برای خرید تیم</a:t>
            </a:r>
          </a:p>
        </p:txBody>
      </p:sp>
      <p:sp>
        <p:nvSpPr>
          <p:cNvPr id="2" name="text-3-1">
            <a:extLst>
              <a:ext uri="{FF2B5EF4-FFF2-40B4-BE49-F238E27FC236}">
                <a16:creationId xmlns:a16="http://schemas.microsoft.com/office/drawing/2014/main" id="{2D58460E-240E-43B4-863F-91368398307C}"/>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EAF2FF"/>
                </a:solidFill>
                <a:latin typeface="Vazirmatn"/>
                <a:ea typeface="Vazirmatn"/>
                <a:cs typeface="Vazirmatn"/>
              </a:defRPr>
            </a:pPr>
            <a:r>
              <a:rPr lang="fa-IR" sz="1350" b="0">
                <a:solidFill>
                  <a:srgbClr val="EAF2FF"/>
                </a:solidFill>
                <a:latin typeface="Vazirmatn"/>
                <a:ea typeface="Vazirmatn"/>
                <a:cs typeface="Vazirmatn"/>
              </a:rPr>
              <a:t>۳</a:t>
            </a:r>
          </a:p>
        </p:txBody>
      </p:sp>
      <p:sp>
        <p:nvSpPr>
          <p:cNvPr id="3" name="text-3-2">
            <a:extLst>
              <a:ext uri="{FF2B5EF4-FFF2-40B4-BE49-F238E27FC236}">
                <a16:creationId xmlns:a16="http://schemas.microsoft.com/office/drawing/2014/main" id="{4B758B12-B84E-47F0-AF1B-59ABDB7996F7}"/>
              </a:ext>
            </a:extLst>
          </p:cNvPr>
          <p:cNvSpPr>
            <a:spLocks noGrp="1"/>
          </p:cNvSpPr>
          <p:nvPr/>
        </p:nvSpPr>
        <p:spPr>
          <a:xfrm>
            <a:off x="8953500" y="1943100"/>
            <a:ext cx="2476500" cy="571500"/>
          </a:xfrm>
          <a:prstGeom prst="rect">
            <a:avLst/>
          </a:prstGeom>
          <a:noFill/>
          <a:ln w="0">
            <a:noFill/>
          </a:ln>
        </p:spPr>
        <p:txBody>
          <a:bodyPr wrap="none" lIns="0" tIns="0" rIns="0" bIns="0" anchor="t">
            <a:noAutofit/>
          </a:bodyPr>
          <a:lstStyle/>
          <a:p>
            <a:pPr algn="r" rtl="1">
              <a:lnSpc>
                <a:spcPct val="122000"/>
              </a:lnSpc>
              <a:buNone/>
              <a:defRPr sz="3450" b="1">
                <a:solidFill>
                  <a:srgbClr val="FFAD33"/>
                </a:solidFill>
                <a:latin typeface="Vazirmatn"/>
                <a:ea typeface="Vazirmatn"/>
                <a:cs typeface="Vazirmatn"/>
              </a:defRPr>
            </a:pPr>
            <a:r>
              <a:rPr lang="fa-IR" sz="3450" b="1">
                <a:solidFill>
                  <a:srgbClr val="FFAD33"/>
                </a:solidFill>
                <a:latin typeface="Vazirmatn"/>
                <a:ea typeface="Vazirmatn"/>
                <a:cs typeface="Vazirmatn"/>
              </a:rPr>
              <a:t>۱</a:t>
            </a:r>
          </a:p>
        </p:txBody>
      </p:sp>
      <p:sp>
        <p:nvSpPr>
          <p:cNvPr id="4" name="text-3-3">
            <a:extLst>
              <a:ext uri="{FF2B5EF4-FFF2-40B4-BE49-F238E27FC236}">
                <a16:creationId xmlns:a16="http://schemas.microsoft.com/office/drawing/2014/main" id="{0115BD1E-3B62-4EF9-B253-2783FFB99AF6}"/>
              </a:ext>
            </a:extLst>
          </p:cNvPr>
          <p:cNvSpPr>
            <a:spLocks noGrp="1"/>
          </p:cNvSpPr>
          <p:nvPr/>
        </p:nvSpPr>
        <p:spPr>
          <a:xfrm>
            <a:off x="8953500" y="2790825"/>
            <a:ext cx="2476500" cy="504825"/>
          </a:xfrm>
          <a:prstGeom prst="rect">
            <a:avLst/>
          </a:prstGeom>
          <a:noFill/>
          <a:ln w="0">
            <a:noFill/>
          </a:ln>
        </p:spPr>
        <p:txBody>
          <a:bodyPr wrap="none" lIns="0" tIns="0" rIns="0" bIns="0" anchor="t">
            <a:noAutofit/>
          </a:bodyPr>
          <a:lstStyle/>
          <a:p>
            <a:pPr algn="r" rtl="1">
              <a:lnSpc>
                <a:spcPct val="122000"/>
              </a:lnSpc>
              <a:buNone/>
              <a:defRPr sz="2175" b="1">
                <a:solidFill>
                  <a:srgbClr val="FFFFFF"/>
                </a:solidFill>
                <a:latin typeface="Vazirmatn"/>
                <a:ea typeface="Vazirmatn"/>
                <a:cs typeface="Vazirmatn"/>
              </a:defRPr>
            </a:pPr>
            <a:r>
              <a:rPr lang="fa-IR" sz="2175" b="1">
                <a:solidFill>
                  <a:srgbClr val="FFFFFF"/>
                </a:solidFill>
                <a:latin typeface="Vazirmatn"/>
                <a:ea typeface="Vazirmatn"/>
                <a:cs typeface="Vazirmatn"/>
              </a:rPr>
              <a:t>ثبت نیاز</a:t>
            </a:r>
          </a:p>
        </p:txBody>
      </p:sp>
      <p:sp>
        <p:nvSpPr>
          <p:cNvPr id="5" name="text-3-4">
            <a:extLst>
              <a:ext uri="{FF2B5EF4-FFF2-40B4-BE49-F238E27FC236}">
                <a16:creationId xmlns:a16="http://schemas.microsoft.com/office/drawing/2014/main" id="{41C754E0-EC96-4537-B574-D8AEDD8E4B1E}"/>
              </a:ext>
            </a:extLst>
          </p:cNvPr>
          <p:cNvSpPr>
            <a:spLocks noGrp="1"/>
          </p:cNvSpPr>
          <p:nvPr/>
        </p:nvSpPr>
        <p:spPr>
          <a:xfrm>
            <a:off x="8953500" y="3571875"/>
            <a:ext cx="2476500" cy="952500"/>
          </a:xfrm>
          <a:prstGeom prst="rect">
            <a:avLst/>
          </a:prstGeom>
          <a:noFill/>
          <a:ln w="0">
            <a:noFill/>
          </a:ln>
        </p:spPr>
        <p:txBody>
          <a:bodyPr wrap="none" lIns="0" tIns="0" rIns="0" bIns="0" anchor="t">
            <a:noAutofit/>
          </a:bodyPr>
          <a:lstStyle/>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مقدار و مشخصات اقلام</a:t>
            </a:r>
          </a:p>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در یک فهرست روشن</a:t>
            </a:r>
          </a:p>
        </p:txBody>
      </p:sp>
      <p:sp>
        <p:nvSpPr>
          <p:cNvPr id="6" name="text-3-5">
            <a:extLst>
              <a:ext uri="{FF2B5EF4-FFF2-40B4-BE49-F238E27FC236}">
                <a16:creationId xmlns:a16="http://schemas.microsoft.com/office/drawing/2014/main" id="{6BA4B403-CC0E-4822-881F-03CF592E4D9E}"/>
              </a:ext>
            </a:extLst>
          </p:cNvPr>
          <p:cNvSpPr>
            <a:spLocks noGrp="1"/>
          </p:cNvSpPr>
          <p:nvPr/>
        </p:nvSpPr>
        <p:spPr>
          <a:xfrm>
            <a:off x="6172200" y="1943100"/>
            <a:ext cx="2476500" cy="571500"/>
          </a:xfrm>
          <a:prstGeom prst="rect">
            <a:avLst/>
          </a:prstGeom>
          <a:noFill/>
          <a:ln w="0">
            <a:noFill/>
          </a:ln>
        </p:spPr>
        <p:txBody>
          <a:bodyPr wrap="none" lIns="0" tIns="0" rIns="0" bIns="0" anchor="t">
            <a:noAutofit/>
          </a:bodyPr>
          <a:lstStyle/>
          <a:p>
            <a:pPr algn="r" rtl="1">
              <a:lnSpc>
                <a:spcPct val="122000"/>
              </a:lnSpc>
              <a:buNone/>
              <a:defRPr sz="3450" b="1">
                <a:solidFill>
                  <a:srgbClr val="FFAD33"/>
                </a:solidFill>
                <a:latin typeface="Vazirmatn"/>
                <a:ea typeface="Vazirmatn"/>
                <a:cs typeface="Vazirmatn"/>
              </a:defRPr>
            </a:pPr>
            <a:r>
              <a:rPr lang="fa-IR" sz="3450" b="1">
                <a:solidFill>
                  <a:srgbClr val="FFAD33"/>
                </a:solidFill>
                <a:latin typeface="Vazirmatn"/>
                <a:ea typeface="Vazirmatn"/>
                <a:cs typeface="Vazirmatn"/>
              </a:rPr>
              <a:t>۲</a:t>
            </a:r>
          </a:p>
        </p:txBody>
      </p:sp>
      <p:sp>
        <p:nvSpPr>
          <p:cNvPr id="7" name="text-3-6">
            <a:extLst>
              <a:ext uri="{FF2B5EF4-FFF2-40B4-BE49-F238E27FC236}">
                <a16:creationId xmlns:a16="http://schemas.microsoft.com/office/drawing/2014/main" id="{314F8E46-1FC1-4852-B0A7-185A43FD6715}"/>
              </a:ext>
            </a:extLst>
          </p:cNvPr>
          <p:cNvSpPr>
            <a:spLocks noGrp="1"/>
          </p:cNvSpPr>
          <p:nvPr/>
        </p:nvSpPr>
        <p:spPr>
          <a:xfrm>
            <a:off x="6172200" y="2790825"/>
            <a:ext cx="2476500" cy="504825"/>
          </a:xfrm>
          <a:prstGeom prst="rect">
            <a:avLst/>
          </a:prstGeom>
          <a:noFill/>
          <a:ln w="0">
            <a:noFill/>
          </a:ln>
        </p:spPr>
        <p:txBody>
          <a:bodyPr wrap="none" lIns="0" tIns="0" rIns="0" bIns="0" anchor="t">
            <a:noAutofit/>
          </a:bodyPr>
          <a:lstStyle/>
          <a:p>
            <a:pPr algn="r" rtl="1">
              <a:lnSpc>
                <a:spcPct val="122000"/>
              </a:lnSpc>
              <a:buNone/>
              <a:defRPr sz="2175" b="1">
                <a:solidFill>
                  <a:srgbClr val="FFFFFF"/>
                </a:solidFill>
                <a:latin typeface="Vazirmatn"/>
                <a:ea typeface="Vazirmatn"/>
                <a:cs typeface="Vazirmatn"/>
              </a:defRPr>
            </a:pPr>
            <a:r>
              <a:rPr lang="fa-IR" sz="2175" b="1">
                <a:solidFill>
                  <a:srgbClr val="FFFFFF"/>
                </a:solidFill>
                <a:latin typeface="Vazirmatn"/>
                <a:ea typeface="Vazirmatn"/>
                <a:cs typeface="Vazirmatn"/>
              </a:rPr>
              <a:t>مقایسه تأمین</a:t>
            </a:r>
          </a:p>
        </p:txBody>
      </p:sp>
      <p:sp>
        <p:nvSpPr>
          <p:cNvPr id="8" name="text-3-7">
            <a:extLst>
              <a:ext uri="{FF2B5EF4-FFF2-40B4-BE49-F238E27FC236}">
                <a16:creationId xmlns:a16="http://schemas.microsoft.com/office/drawing/2014/main" id="{5ABDB621-65F8-43FF-8438-D1996B1845DA}"/>
              </a:ext>
            </a:extLst>
          </p:cNvPr>
          <p:cNvSpPr>
            <a:spLocks noGrp="1"/>
          </p:cNvSpPr>
          <p:nvPr/>
        </p:nvSpPr>
        <p:spPr>
          <a:xfrm>
            <a:off x="6172200" y="3571875"/>
            <a:ext cx="2476500" cy="952500"/>
          </a:xfrm>
          <a:prstGeom prst="rect">
            <a:avLst/>
          </a:prstGeom>
          <a:noFill/>
          <a:ln w="0">
            <a:noFill/>
          </a:ln>
        </p:spPr>
        <p:txBody>
          <a:bodyPr wrap="none" lIns="0" tIns="0" rIns="0" bIns="0" anchor="t">
            <a:noAutofit/>
          </a:bodyPr>
          <a:lstStyle/>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قیمت، موجودی و شرایط</a:t>
            </a:r>
          </a:p>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در کنار هزینه ارسال</a:t>
            </a:r>
          </a:p>
        </p:txBody>
      </p:sp>
      <p:sp>
        <p:nvSpPr>
          <p:cNvPr id="9" name="text-3-8">
            <a:extLst>
              <a:ext uri="{FF2B5EF4-FFF2-40B4-BE49-F238E27FC236}">
                <a16:creationId xmlns:a16="http://schemas.microsoft.com/office/drawing/2014/main" id="{34E433F9-0353-49F0-9774-FBCAF0B9127E}"/>
              </a:ext>
            </a:extLst>
          </p:cNvPr>
          <p:cNvSpPr>
            <a:spLocks noGrp="1"/>
          </p:cNvSpPr>
          <p:nvPr/>
        </p:nvSpPr>
        <p:spPr>
          <a:xfrm>
            <a:off x="3390900" y="1943100"/>
            <a:ext cx="2476500" cy="571500"/>
          </a:xfrm>
          <a:prstGeom prst="rect">
            <a:avLst/>
          </a:prstGeom>
          <a:noFill/>
          <a:ln w="0">
            <a:noFill/>
          </a:ln>
        </p:spPr>
        <p:txBody>
          <a:bodyPr wrap="none" lIns="0" tIns="0" rIns="0" bIns="0" anchor="t">
            <a:noAutofit/>
          </a:bodyPr>
          <a:lstStyle/>
          <a:p>
            <a:pPr algn="r" rtl="1">
              <a:lnSpc>
                <a:spcPct val="122000"/>
              </a:lnSpc>
              <a:buNone/>
              <a:defRPr sz="3450" b="1">
                <a:solidFill>
                  <a:srgbClr val="FFAD33"/>
                </a:solidFill>
                <a:latin typeface="Vazirmatn"/>
                <a:ea typeface="Vazirmatn"/>
                <a:cs typeface="Vazirmatn"/>
              </a:defRPr>
            </a:pPr>
            <a:r>
              <a:rPr lang="fa-IR" sz="3450" b="1">
                <a:solidFill>
                  <a:srgbClr val="FFAD33"/>
                </a:solidFill>
                <a:latin typeface="Vazirmatn"/>
                <a:ea typeface="Vazirmatn"/>
                <a:cs typeface="Vazirmatn"/>
              </a:rPr>
              <a:t>۳</a:t>
            </a:r>
          </a:p>
        </p:txBody>
      </p:sp>
      <p:sp>
        <p:nvSpPr>
          <p:cNvPr id="10" name="text-3-9">
            <a:extLst>
              <a:ext uri="{FF2B5EF4-FFF2-40B4-BE49-F238E27FC236}">
                <a16:creationId xmlns:a16="http://schemas.microsoft.com/office/drawing/2014/main" id="{D15F8675-8D72-46CC-BC21-5377D79E3C53}"/>
              </a:ext>
            </a:extLst>
          </p:cNvPr>
          <p:cNvSpPr>
            <a:spLocks noGrp="1"/>
          </p:cNvSpPr>
          <p:nvPr/>
        </p:nvSpPr>
        <p:spPr>
          <a:xfrm>
            <a:off x="3390900" y="2790825"/>
            <a:ext cx="2476500" cy="504825"/>
          </a:xfrm>
          <a:prstGeom prst="rect">
            <a:avLst/>
          </a:prstGeom>
          <a:noFill/>
          <a:ln w="0">
            <a:noFill/>
          </a:ln>
        </p:spPr>
        <p:txBody>
          <a:bodyPr wrap="none" lIns="0" tIns="0" rIns="0" bIns="0" anchor="t">
            <a:noAutofit/>
          </a:bodyPr>
          <a:lstStyle/>
          <a:p>
            <a:pPr algn="r" rtl="1">
              <a:lnSpc>
                <a:spcPct val="122000"/>
              </a:lnSpc>
              <a:buNone/>
              <a:defRPr sz="2175" b="1">
                <a:solidFill>
                  <a:srgbClr val="FFFFFF"/>
                </a:solidFill>
                <a:latin typeface="Vazirmatn"/>
                <a:ea typeface="Vazirmatn"/>
                <a:cs typeface="Vazirmatn"/>
              </a:defRPr>
            </a:pPr>
            <a:r>
              <a:rPr lang="fa-IR" sz="2175" b="1">
                <a:solidFill>
                  <a:srgbClr val="FFFFFF"/>
                </a:solidFill>
                <a:latin typeface="Vazirmatn"/>
                <a:ea typeface="Vazirmatn"/>
                <a:cs typeface="Vazirmatn"/>
              </a:rPr>
              <a:t>نهایی‌کردن خرید</a:t>
            </a:r>
          </a:p>
        </p:txBody>
      </p:sp>
      <p:sp>
        <p:nvSpPr>
          <p:cNvPr id="11" name="text-3-10">
            <a:extLst>
              <a:ext uri="{FF2B5EF4-FFF2-40B4-BE49-F238E27FC236}">
                <a16:creationId xmlns:a16="http://schemas.microsoft.com/office/drawing/2014/main" id="{2A3B283C-60F8-400D-A9E8-ABB9DB5AC8AC}"/>
              </a:ext>
            </a:extLst>
          </p:cNvPr>
          <p:cNvSpPr>
            <a:spLocks noGrp="1"/>
          </p:cNvSpPr>
          <p:nvPr/>
        </p:nvSpPr>
        <p:spPr>
          <a:xfrm>
            <a:off x="3390900" y="3571875"/>
            <a:ext cx="2476500" cy="952500"/>
          </a:xfrm>
          <a:prstGeom prst="rect">
            <a:avLst/>
          </a:prstGeom>
          <a:noFill/>
          <a:ln w="0">
            <a:noFill/>
          </a:ln>
        </p:spPr>
        <p:txBody>
          <a:bodyPr wrap="none" lIns="0" tIns="0" rIns="0" bIns="0" anchor="t">
            <a:noAutofit/>
          </a:bodyPr>
          <a:lstStyle/>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بازبینی سبد و تحویل</a:t>
            </a:r>
          </a:p>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پیش از تأیید نهایی</a:t>
            </a:r>
          </a:p>
        </p:txBody>
      </p:sp>
      <p:sp>
        <p:nvSpPr>
          <p:cNvPr id="12" name="text-3-11">
            <a:extLst>
              <a:ext uri="{FF2B5EF4-FFF2-40B4-BE49-F238E27FC236}">
                <a16:creationId xmlns:a16="http://schemas.microsoft.com/office/drawing/2014/main" id="{0ACFDBE3-D6F5-478F-8685-E004678880D2}"/>
              </a:ext>
            </a:extLst>
          </p:cNvPr>
          <p:cNvSpPr>
            <a:spLocks noGrp="1"/>
          </p:cNvSpPr>
          <p:nvPr/>
        </p:nvSpPr>
        <p:spPr>
          <a:xfrm>
            <a:off x="609600" y="1943100"/>
            <a:ext cx="2476500" cy="571500"/>
          </a:xfrm>
          <a:prstGeom prst="rect">
            <a:avLst/>
          </a:prstGeom>
          <a:noFill/>
          <a:ln w="0">
            <a:noFill/>
          </a:ln>
        </p:spPr>
        <p:txBody>
          <a:bodyPr wrap="none" lIns="0" tIns="0" rIns="0" bIns="0" anchor="t">
            <a:noAutofit/>
          </a:bodyPr>
          <a:lstStyle/>
          <a:p>
            <a:pPr algn="r" rtl="1">
              <a:lnSpc>
                <a:spcPct val="122000"/>
              </a:lnSpc>
              <a:buNone/>
              <a:defRPr sz="3450" b="1">
                <a:solidFill>
                  <a:srgbClr val="FFAD33"/>
                </a:solidFill>
                <a:latin typeface="Vazirmatn"/>
                <a:ea typeface="Vazirmatn"/>
                <a:cs typeface="Vazirmatn"/>
              </a:defRPr>
            </a:pPr>
            <a:r>
              <a:rPr lang="fa-IR" sz="3450" b="1">
                <a:solidFill>
                  <a:srgbClr val="FFAD33"/>
                </a:solidFill>
                <a:latin typeface="Vazirmatn"/>
                <a:ea typeface="Vazirmatn"/>
                <a:cs typeface="Vazirmatn"/>
              </a:rPr>
              <a:t>۴</a:t>
            </a:r>
          </a:p>
        </p:txBody>
      </p:sp>
      <p:sp>
        <p:nvSpPr>
          <p:cNvPr id="13" name="text-3-12">
            <a:extLst>
              <a:ext uri="{FF2B5EF4-FFF2-40B4-BE49-F238E27FC236}">
                <a16:creationId xmlns:a16="http://schemas.microsoft.com/office/drawing/2014/main" id="{5ED5D013-1091-49B3-987F-5875B9FDBF94}"/>
              </a:ext>
            </a:extLst>
          </p:cNvPr>
          <p:cNvSpPr>
            <a:spLocks noGrp="1"/>
          </p:cNvSpPr>
          <p:nvPr/>
        </p:nvSpPr>
        <p:spPr>
          <a:xfrm>
            <a:off x="609600" y="2790825"/>
            <a:ext cx="2476500" cy="504825"/>
          </a:xfrm>
          <a:prstGeom prst="rect">
            <a:avLst/>
          </a:prstGeom>
          <a:noFill/>
          <a:ln w="0">
            <a:noFill/>
          </a:ln>
        </p:spPr>
        <p:txBody>
          <a:bodyPr wrap="none" lIns="0" tIns="0" rIns="0" bIns="0" anchor="t">
            <a:noAutofit/>
          </a:bodyPr>
          <a:lstStyle/>
          <a:p>
            <a:pPr algn="r" rtl="1">
              <a:lnSpc>
                <a:spcPct val="122000"/>
              </a:lnSpc>
              <a:buNone/>
              <a:defRPr sz="2175" b="1">
                <a:solidFill>
                  <a:srgbClr val="FFFFFF"/>
                </a:solidFill>
                <a:latin typeface="Vazirmatn"/>
                <a:ea typeface="Vazirmatn"/>
                <a:cs typeface="Vazirmatn"/>
              </a:defRPr>
            </a:pPr>
            <a:r>
              <a:rPr lang="fa-IR" sz="2175" b="1">
                <a:solidFill>
                  <a:srgbClr val="FFFFFF"/>
                </a:solidFill>
                <a:latin typeface="Vazirmatn"/>
                <a:ea typeface="Vazirmatn"/>
                <a:cs typeface="Vazirmatn"/>
              </a:rPr>
              <a:t>پیگیری هزینه</a:t>
            </a:r>
          </a:p>
        </p:txBody>
      </p:sp>
      <p:sp>
        <p:nvSpPr>
          <p:cNvPr id="14" name="text-3-13">
            <a:extLst>
              <a:ext uri="{FF2B5EF4-FFF2-40B4-BE49-F238E27FC236}">
                <a16:creationId xmlns:a16="http://schemas.microsoft.com/office/drawing/2014/main" id="{39A48E1E-BC89-4F8F-A605-C242B0D63BA0}"/>
              </a:ext>
            </a:extLst>
          </p:cNvPr>
          <p:cNvSpPr>
            <a:spLocks noGrp="1"/>
          </p:cNvSpPr>
          <p:nvPr/>
        </p:nvSpPr>
        <p:spPr>
          <a:xfrm>
            <a:off x="609600" y="3571875"/>
            <a:ext cx="2476500" cy="952500"/>
          </a:xfrm>
          <a:prstGeom prst="rect">
            <a:avLst/>
          </a:prstGeom>
          <a:noFill/>
          <a:ln w="0">
            <a:noFill/>
          </a:ln>
        </p:spPr>
        <p:txBody>
          <a:bodyPr wrap="none" lIns="0" tIns="0" rIns="0" bIns="0" anchor="t">
            <a:noAutofit/>
          </a:bodyPr>
          <a:lstStyle/>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سابقه سفارش و مبلغ</a:t>
            </a:r>
          </a:p>
          <a:p>
            <a:pPr algn="r" rtl="1">
              <a:lnSpc>
                <a:spcPct val="122000"/>
              </a:lnSpc>
              <a:buNone/>
              <a:defRPr sz="1800" b="0">
                <a:solidFill>
                  <a:srgbClr val="EAF2FF"/>
                </a:solidFill>
                <a:latin typeface="Vazirmatn"/>
                <a:ea typeface="Vazirmatn"/>
                <a:cs typeface="Vazirmatn"/>
              </a:defRPr>
            </a:pPr>
            <a:r>
              <a:rPr lang="fa-IR" sz="1800" b="0">
                <a:solidFill>
                  <a:srgbClr val="EAF2FF"/>
                </a:solidFill>
                <a:latin typeface="Vazirmatn"/>
                <a:ea typeface="Vazirmatn"/>
                <a:cs typeface="Vazirmatn"/>
              </a:rPr>
              <a:t>قابل پیگیری برای مدیر</a:t>
            </a:r>
          </a:p>
        </p:txBody>
      </p:sp>
      <p:sp>
        <p:nvSpPr>
          <p:cNvPr id="15" name="text-3-14">
            <a:extLst>
              <a:ext uri="{FF2B5EF4-FFF2-40B4-BE49-F238E27FC236}">
                <a16:creationId xmlns:a16="http://schemas.microsoft.com/office/drawing/2014/main" id="{D5142E4E-C81D-43EF-ACAA-0B93E2C1E134}"/>
              </a:ext>
            </a:extLst>
          </p:cNvPr>
          <p:cNvSpPr>
            <a:spLocks noGrp="1"/>
          </p:cNvSpPr>
          <p:nvPr/>
        </p:nvSpPr>
        <p:spPr>
          <a:xfrm>
            <a:off x="685800" y="5248275"/>
            <a:ext cx="10820400" cy="571500"/>
          </a:xfrm>
          <a:prstGeom prst="rect">
            <a:avLst/>
          </a:prstGeom>
          <a:noFill/>
          <a:ln w="0">
            <a:noFill/>
          </a:ln>
        </p:spPr>
        <p:txBody>
          <a:bodyPr wrap="none" lIns="0" tIns="0" rIns="0" bIns="0" anchor="t">
            <a:noAutofit/>
          </a:bodyPr>
          <a:lstStyle/>
          <a:p>
            <a:pPr algn="r" rtl="1">
              <a:lnSpc>
                <a:spcPct val="122000"/>
              </a:lnSpc>
              <a:buNone/>
              <a:defRPr sz="2250" b="0">
                <a:solidFill>
                  <a:srgbClr val="FFFFFF"/>
                </a:solidFill>
                <a:latin typeface="Vazirmatn"/>
                <a:ea typeface="Vazirmatn"/>
                <a:cs typeface="Vazirmatn"/>
              </a:defRPr>
            </a:pPr>
            <a:r>
              <a:rPr lang="fa-IR" sz="2250" b="0">
                <a:solidFill>
                  <a:srgbClr val="FFFFFF"/>
                </a:solidFill>
                <a:latin typeface="Vazirmatn"/>
                <a:ea typeface="Vazirmatn"/>
                <a:cs typeface="Vazirmatn"/>
              </a:rPr>
              <a:t>کارمند، مسئول خرید و مدیر، هرکدام نقش مشخصی دارند.</a:t>
            </a:r>
          </a:p>
        </p:txBody>
      </p:sp>
    </p:spTree>
    <p:extLst>
      <p:ext uri="{BB962C8B-B14F-4D97-AF65-F5344CB8AC3E}">
        <p14:creationId xmlns:p14="http://schemas.microsoft.com/office/powerpoint/2010/main" val="569813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4-0">
            <a:extLst>
              <a:ext uri="{FF2B5EF4-FFF2-40B4-BE49-F238E27FC236}">
                <a16:creationId xmlns:a16="http://schemas.microsoft.com/office/drawing/2014/main" id="{9346B660-C43A-4568-BAAB-754D54857486}"/>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مشتری آغازین</a:t>
            </a:r>
          </a:p>
        </p:txBody>
      </p:sp>
      <p:sp>
        <p:nvSpPr>
          <p:cNvPr id="2" name="text-4-1">
            <a:extLst>
              <a:ext uri="{FF2B5EF4-FFF2-40B4-BE49-F238E27FC236}">
                <a16:creationId xmlns:a16="http://schemas.microsoft.com/office/drawing/2014/main" id="{DDC336E4-7987-4639-83DE-95094238512B}"/>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۴</a:t>
            </a:r>
          </a:p>
        </p:txBody>
      </p:sp>
      <p:sp>
        <p:nvSpPr>
          <p:cNvPr id="3" name="text-4-2">
            <a:extLst>
              <a:ext uri="{FF2B5EF4-FFF2-40B4-BE49-F238E27FC236}">
                <a16:creationId xmlns:a16="http://schemas.microsoft.com/office/drawing/2014/main" id="{A98F825F-EDA6-4E84-B6B9-C4DE654C4BA0}"/>
              </a:ext>
            </a:extLst>
          </p:cNvPr>
          <p:cNvSpPr>
            <a:spLocks noGrp="1"/>
          </p:cNvSpPr>
          <p:nvPr/>
        </p:nvSpPr>
        <p:spPr>
          <a:xfrm>
            <a:off x="6524625" y="2009775"/>
            <a:ext cx="4981575" cy="1619250"/>
          </a:xfrm>
          <a:prstGeom prst="rect">
            <a:avLst/>
          </a:prstGeom>
          <a:noFill/>
          <a:ln w="0">
            <a:noFill/>
          </a:ln>
        </p:spPr>
        <p:txBody>
          <a:bodyPr wrap="none" lIns="0" tIns="0" rIns="0" bIns="0" anchor="t">
            <a:noAutofit/>
          </a:bodyPr>
          <a:lstStyle/>
          <a:p>
            <a:pPr algn="r" rtl="1">
              <a:lnSpc>
                <a:spcPct val="122000"/>
              </a:lnSpc>
              <a:buNone/>
              <a:defRPr sz="3600" b="1">
                <a:solidFill>
                  <a:srgbClr val="2457D6"/>
                </a:solidFill>
                <a:latin typeface="Vazirmatn"/>
                <a:ea typeface="Vazirmatn"/>
                <a:cs typeface="Vazirmatn"/>
              </a:defRPr>
            </a:pPr>
            <a:r>
              <a:rPr lang="fa-IR" sz="3600" b="1">
                <a:solidFill>
                  <a:srgbClr val="2457D6"/>
                </a:solidFill>
                <a:latin typeface="Vazirmatn"/>
                <a:ea typeface="Vazirmatn"/>
                <a:cs typeface="Vazirmatn"/>
              </a:rPr>
              <a:t>کافه‌ها و رستوران‌های</a:t>
            </a:r>
          </a:p>
          <a:p>
            <a:pPr algn="r" rtl="1">
              <a:lnSpc>
                <a:spcPct val="122000"/>
              </a:lnSpc>
              <a:buNone/>
              <a:defRPr sz="3600" b="1">
                <a:solidFill>
                  <a:srgbClr val="2457D6"/>
                </a:solidFill>
                <a:latin typeface="Vazirmatn"/>
                <a:ea typeface="Vazirmatn"/>
                <a:cs typeface="Vazirmatn"/>
              </a:defRPr>
            </a:pPr>
            <a:r>
              <a:rPr lang="fa-IR" sz="3600" b="1">
                <a:solidFill>
                  <a:srgbClr val="2457D6"/>
                </a:solidFill>
                <a:latin typeface="Vazirmatn"/>
                <a:ea typeface="Vazirmatn"/>
                <a:cs typeface="Vazirmatn"/>
              </a:rPr>
              <a:t>مستقل کرمان</a:t>
            </a:r>
          </a:p>
        </p:txBody>
      </p:sp>
      <p:sp>
        <p:nvSpPr>
          <p:cNvPr id="4" name="text-4-3">
            <a:extLst>
              <a:ext uri="{FF2B5EF4-FFF2-40B4-BE49-F238E27FC236}">
                <a16:creationId xmlns:a16="http://schemas.microsoft.com/office/drawing/2014/main" id="{BAD8F141-DFA0-496F-A100-3C881ECEC7A1}"/>
              </a:ext>
            </a:extLst>
          </p:cNvPr>
          <p:cNvSpPr>
            <a:spLocks noGrp="1"/>
          </p:cNvSpPr>
          <p:nvPr/>
        </p:nvSpPr>
        <p:spPr>
          <a:xfrm>
            <a:off x="6210300" y="4238625"/>
            <a:ext cx="5295900" cy="1000125"/>
          </a:xfrm>
          <a:prstGeom prst="rect">
            <a:avLst/>
          </a:prstGeom>
          <a:noFill/>
          <a:ln w="0">
            <a:noFill/>
          </a:ln>
        </p:spPr>
        <p:txBody>
          <a:bodyPr wrap="none" lIns="0" tIns="0" rIns="0" bIns="0" anchor="t">
            <a:noAutofit/>
          </a:bodyPr>
          <a:lstStyle/>
          <a:p>
            <a:pPr algn="r" rtl="1">
              <a:lnSpc>
                <a:spcPct val="122000"/>
              </a:lnSpc>
              <a:buNone/>
              <a:defRPr sz="2025" b="0">
                <a:solidFill>
                  <a:srgbClr val="58677C"/>
                </a:solidFill>
                <a:latin typeface="Vazirmatn"/>
                <a:ea typeface="Vazirmatn"/>
                <a:cs typeface="Vazirmatn"/>
              </a:defRPr>
            </a:pPr>
            <a:r>
              <a:rPr lang="fa-IR" sz="2025" b="0">
                <a:solidFill>
                  <a:srgbClr val="58677C"/>
                </a:solidFill>
                <a:latin typeface="Vazirmatn"/>
                <a:ea typeface="Vazirmatn"/>
                <a:cs typeface="Vazirmatn"/>
              </a:rPr>
              <a:t>با خریدهای تکرارشونده مواد اولیه</a:t>
            </a:r>
          </a:p>
          <a:p>
            <a:pPr algn="r" rtl="1">
              <a:lnSpc>
                <a:spcPct val="122000"/>
              </a:lnSpc>
              <a:buNone/>
              <a:defRPr sz="2025" b="0">
                <a:solidFill>
                  <a:srgbClr val="58677C"/>
                </a:solidFill>
                <a:latin typeface="Vazirmatn"/>
                <a:ea typeface="Vazirmatn"/>
                <a:cs typeface="Vazirmatn"/>
              </a:defRPr>
            </a:pPr>
            <a:r>
              <a:rPr lang="fa-IR" sz="2025" b="0">
                <a:solidFill>
                  <a:srgbClr val="58677C"/>
                </a:solidFill>
                <a:latin typeface="Vazirmatn"/>
                <a:ea typeface="Vazirmatn"/>
                <a:cs typeface="Vazirmatn"/>
              </a:rPr>
              <a:t>و نیاز به هماهنگی میان اعضای تیم</a:t>
            </a:r>
          </a:p>
        </p:txBody>
      </p:sp>
      <p:sp>
        <p:nvSpPr>
          <p:cNvPr id="5" name="text-4-4">
            <a:extLst>
              <a:ext uri="{FF2B5EF4-FFF2-40B4-BE49-F238E27FC236}">
                <a16:creationId xmlns:a16="http://schemas.microsoft.com/office/drawing/2014/main" id="{A2CAC9E5-B789-47E6-95EE-F72391AC36B1}"/>
              </a:ext>
            </a:extLst>
          </p:cNvPr>
          <p:cNvSpPr>
            <a:spLocks noGrp="1"/>
          </p:cNvSpPr>
          <p:nvPr/>
        </p:nvSpPr>
        <p:spPr>
          <a:xfrm>
            <a:off x="685800" y="1828800"/>
            <a:ext cx="4762500" cy="485775"/>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مالک و مدیر</a:t>
            </a:r>
          </a:p>
        </p:txBody>
      </p:sp>
      <p:sp>
        <p:nvSpPr>
          <p:cNvPr id="6" name="text-4-5">
            <a:extLst>
              <a:ext uri="{FF2B5EF4-FFF2-40B4-BE49-F238E27FC236}">
                <a16:creationId xmlns:a16="http://schemas.microsoft.com/office/drawing/2014/main" id="{729C4E0E-CE87-4262-B16C-70A62FC86E1A}"/>
              </a:ext>
            </a:extLst>
          </p:cNvPr>
          <p:cNvSpPr>
            <a:spLocks noGrp="1"/>
          </p:cNvSpPr>
          <p:nvPr/>
        </p:nvSpPr>
        <p:spPr>
          <a:xfrm>
            <a:off x="685800" y="2371725"/>
            <a:ext cx="4762500" cy="495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دید روشن‌تر از خرید و هزینه</a:t>
            </a:r>
          </a:p>
        </p:txBody>
      </p:sp>
      <p:sp>
        <p:nvSpPr>
          <p:cNvPr id="7" name="text-4-6">
            <a:extLst>
              <a:ext uri="{FF2B5EF4-FFF2-40B4-BE49-F238E27FC236}">
                <a16:creationId xmlns:a16="http://schemas.microsoft.com/office/drawing/2014/main" id="{259A62FA-2CCD-424A-8E5B-8FABEE49394E}"/>
              </a:ext>
            </a:extLst>
          </p:cNvPr>
          <p:cNvSpPr>
            <a:spLocks noGrp="1"/>
          </p:cNvSpPr>
          <p:nvPr/>
        </p:nvSpPr>
        <p:spPr>
          <a:xfrm>
            <a:off x="685800" y="3238500"/>
            <a:ext cx="4762500" cy="485775"/>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مسئول خرید</a:t>
            </a:r>
          </a:p>
        </p:txBody>
      </p:sp>
      <p:sp>
        <p:nvSpPr>
          <p:cNvPr id="8" name="text-4-7">
            <a:extLst>
              <a:ext uri="{FF2B5EF4-FFF2-40B4-BE49-F238E27FC236}">
                <a16:creationId xmlns:a16="http://schemas.microsoft.com/office/drawing/2014/main" id="{238628B9-61C8-42FB-B50C-4FDB0A7E4D35}"/>
              </a:ext>
            </a:extLst>
          </p:cNvPr>
          <p:cNvSpPr>
            <a:spLocks noGrp="1"/>
          </p:cNvSpPr>
          <p:nvPr/>
        </p:nvSpPr>
        <p:spPr>
          <a:xfrm>
            <a:off x="685800" y="3781425"/>
            <a:ext cx="4762500" cy="495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مقایسه شرایط و پیگیری سفارش</a:t>
            </a:r>
          </a:p>
        </p:txBody>
      </p:sp>
      <p:sp>
        <p:nvSpPr>
          <p:cNvPr id="9" name="text-4-8">
            <a:extLst>
              <a:ext uri="{FF2B5EF4-FFF2-40B4-BE49-F238E27FC236}">
                <a16:creationId xmlns:a16="http://schemas.microsoft.com/office/drawing/2014/main" id="{4352B2CE-DE35-4151-9886-83775533FD46}"/>
              </a:ext>
            </a:extLst>
          </p:cNvPr>
          <p:cNvSpPr>
            <a:spLocks noGrp="1"/>
          </p:cNvSpPr>
          <p:nvPr/>
        </p:nvSpPr>
        <p:spPr>
          <a:xfrm>
            <a:off x="685800" y="4648200"/>
            <a:ext cx="4762500" cy="485775"/>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کارمند ثبت‌کننده نیاز</a:t>
            </a:r>
          </a:p>
        </p:txBody>
      </p:sp>
      <p:sp>
        <p:nvSpPr>
          <p:cNvPr id="10" name="text-4-9">
            <a:extLst>
              <a:ext uri="{FF2B5EF4-FFF2-40B4-BE49-F238E27FC236}">
                <a16:creationId xmlns:a16="http://schemas.microsoft.com/office/drawing/2014/main" id="{B8D817EA-8460-4D34-85E8-40C52058E7B0}"/>
              </a:ext>
            </a:extLst>
          </p:cNvPr>
          <p:cNvSpPr>
            <a:spLocks noGrp="1"/>
          </p:cNvSpPr>
          <p:nvPr/>
        </p:nvSpPr>
        <p:spPr>
          <a:xfrm>
            <a:off x="685800" y="5191125"/>
            <a:ext cx="4762500" cy="495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اعلام سریع کمبود و مشاهده وضعیت</a:t>
            </a:r>
          </a:p>
        </p:txBody>
      </p:sp>
    </p:spTree>
    <p:extLst>
      <p:ext uri="{BB962C8B-B14F-4D97-AF65-F5344CB8AC3E}">
        <p14:creationId xmlns:p14="http://schemas.microsoft.com/office/powerpoint/2010/main" val="1631789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5-0">
            <a:extLst>
              <a:ext uri="{FF2B5EF4-FFF2-40B4-BE49-F238E27FC236}">
                <a16:creationId xmlns:a16="http://schemas.microsoft.com/office/drawing/2014/main" id="{3FAC2431-5369-4ACE-991D-FB66CB8F6E87}"/>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تصویر پیشنهادی محصول</a:t>
            </a:r>
          </a:p>
        </p:txBody>
      </p:sp>
      <p:sp>
        <p:nvSpPr>
          <p:cNvPr id="2" name="text-5-1">
            <a:extLst>
              <a:ext uri="{FF2B5EF4-FFF2-40B4-BE49-F238E27FC236}">
                <a16:creationId xmlns:a16="http://schemas.microsoft.com/office/drawing/2014/main" id="{4904A0E1-8294-4841-A1CB-E44B752C365B}"/>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۵</a:t>
            </a:r>
          </a:p>
        </p:txBody>
      </p:sp>
      <p:pic>
        <p:nvPicPr>
          <p:cNvPr id="8" name="Picture 7"/>
          <p:cNvPicPr>
            <a:picLocks noChangeAspect="1"/>
          </p:cNvPicPr>
          <p:nvPr/>
        </p:nvPicPr>
        <p:blipFill>
          <a:blip r:embed="rId3"/>
          <a:stretch/>
        </p:blipFill>
        <p:spPr>
          <a:xfrm>
            <a:off x="686111" y="1666875"/>
            <a:ext cx="10819778" cy="3962400"/>
          </a:xfrm>
          <a:prstGeom prst="rect">
            <a:avLst/>
          </a:prstGeom>
        </p:spPr>
      </p:pic>
      <p:sp>
        <p:nvSpPr>
          <p:cNvPr id="4" name="text-5-2">
            <a:extLst>
              <a:ext uri="{FF2B5EF4-FFF2-40B4-BE49-F238E27FC236}">
                <a16:creationId xmlns:a16="http://schemas.microsoft.com/office/drawing/2014/main" id="{26241C6D-C832-4877-A3AB-9647597B91E8}"/>
              </a:ext>
            </a:extLst>
          </p:cNvPr>
          <p:cNvSpPr>
            <a:spLocks noGrp="1"/>
          </p:cNvSpPr>
          <p:nvPr/>
        </p:nvSpPr>
        <p:spPr>
          <a:xfrm>
            <a:off x="685800" y="5753100"/>
            <a:ext cx="10820400" cy="428625"/>
          </a:xfrm>
          <a:prstGeom prst="rect">
            <a:avLst/>
          </a:prstGeom>
          <a:noFill/>
          <a:ln w="0">
            <a:noFill/>
          </a:ln>
        </p:spPr>
        <p:txBody>
          <a:bodyPr wrap="none" lIns="0" tIns="0" rIns="0" bIns="0" anchor="t">
            <a:noAutofit/>
          </a:bodyPr>
          <a:lstStyle/>
          <a:p>
            <a:pPr algn="r" rtl="1">
              <a:lnSpc>
                <a:spcPct val="122000"/>
              </a:lnSpc>
              <a:buNone/>
              <a:defRPr sz="2025" b="1">
                <a:solidFill>
                  <a:srgbClr val="142B4A"/>
                </a:solidFill>
                <a:latin typeface="Vazirmatn"/>
                <a:ea typeface="Vazirmatn"/>
                <a:cs typeface="Vazirmatn"/>
              </a:defRPr>
            </a:pPr>
            <a:r>
              <a:rPr lang="fa-IR" sz="2025" b="1">
                <a:solidFill>
                  <a:srgbClr val="142B4A"/>
                </a:solidFill>
                <a:latin typeface="Vazirmatn"/>
                <a:ea typeface="Vazirmatn"/>
                <a:cs typeface="Vazirmatn"/>
              </a:rPr>
              <a:t>مقایسه بر اساس مقدار، مشخصات و هزینه نهایی سبد</a:t>
            </a:r>
          </a:p>
        </p:txBody>
      </p:sp>
      <p:sp>
        <p:nvSpPr>
          <p:cNvPr id="5" name="text-5-3">
            <a:extLst>
              <a:ext uri="{FF2B5EF4-FFF2-40B4-BE49-F238E27FC236}">
                <a16:creationId xmlns:a16="http://schemas.microsoft.com/office/drawing/2014/main" id="{10D65914-CB95-405A-9B40-8B41FDA34960}"/>
              </a:ext>
            </a:extLst>
          </p:cNvPr>
          <p:cNvSpPr>
            <a:spLocks noGrp="1"/>
          </p:cNvSpPr>
          <p:nvPr/>
        </p:nvSpPr>
        <p:spPr>
          <a:xfrm>
            <a:off x="6477000" y="6315075"/>
            <a:ext cx="5029200" cy="276225"/>
          </a:xfrm>
          <a:prstGeom prst="rect">
            <a:avLst/>
          </a:prstGeom>
          <a:noFill/>
          <a:ln w="0">
            <a:noFill/>
          </a:ln>
        </p:spPr>
        <p:txBody>
          <a:bodyPr wrap="none" lIns="0" tIns="0" rIns="0" bIns="0" anchor="t">
            <a:noAutofit/>
          </a:bodyPr>
          <a:lstStyle/>
          <a:p>
            <a:pPr algn="r" rtl="1">
              <a:lnSpc>
                <a:spcPct val="122000"/>
              </a:lnSpc>
              <a:buNone/>
              <a:defRPr sz="1500" b="0">
                <a:solidFill>
                  <a:srgbClr val="8A4B00"/>
                </a:solidFill>
                <a:latin typeface="Vazirmatn"/>
                <a:ea typeface="Vazirmatn"/>
                <a:cs typeface="Vazirmatn"/>
              </a:defRPr>
            </a:pPr>
            <a:r>
              <a:rPr lang="fa-IR" sz="1500" b="0">
                <a:solidFill>
                  <a:srgbClr val="8A4B00"/>
                </a:solidFill>
                <a:latin typeface="Vazirmatn"/>
                <a:ea typeface="Vazirmatn"/>
                <a:cs typeface="Vazirmatn"/>
              </a:rPr>
              <a:t>طرح مفهومی و داده‌های فرضی</a:t>
            </a:r>
          </a:p>
        </p:txBody>
      </p:sp>
    </p:spTree>
    <p:extLst>
      <p:ext uri="{BB962C8B-B14F-4D97-AF65-F5344CB8AC3E}">
        <p14:creationId xmlns:p14="http://schemas.microsoft.com/office/powerpoint/2010/main" val="623005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F2FF"/>
        </a:solidFill>
        <a:effectLst/>
      </p:bgPr>
    </p:bg>
    <p:spTree>
      <p:nvGrpSpPr>
        <p:cNvPr id="1" name=""/>
        <p:cNvGrpSpPr/>
        <p:nvPr/>
      </p:nvGrpSpPr>
      <p:grpSpPr>
        <a:xfrm>
          <a:off x="0" y="0"/>
          <a:ext cx="0" cy="0"/>
          <a:chOff x="0" y="0"/>
          <a:chExt cx="0" cy="0"/>
        </a:xfrm>
      </p:grpSpPr>
      <p:sp>
        <p:nvSpPr>
          <p:cNvPr id="11" name="text-6-0">
            <a:extLst>
              <a:ext uri="{FF2B5EF4-FFF2-40B4-BE49-F238E27FC236}">
                <a16:creationId xmlns:a16="http://schemas.microsoft.com/office/drawing/2014/main" id="{BD8A7506-176F-49B1-A39A-255A0AF941AB}"/>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شروع متمرکز در کرمان</a:t>
            </a:r>
          </a:p>
        </p:txBody>
      </p:sp>
      <p:sp>
        <p:nvSpPr>
          <p:cNvPr id="2" name="text-6-1">
            <a:extLst>
              <a:ext uri="{FF2B5EF4-FFF2-40B4-BE49-F238E27FC236}">
                <a16:creationId xmlns:a16="http://schemas.microsoft.com/office/drawing/2014/main" id="{AECA7387-6FD5-4B89-94FC-0481C03B909C}"/>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۶</a:t>
            </a:r>
          </a:p>
        </p:txBody>
      </p:sp>
      <p:sp>
        <p:nvSpPr>
          <p:cNvPr id="3" name="text-6-2">
            <a:extLst>
              <a:ext uri="{FF2B5EF4-FFF2-40B4-BE49-F238E27FC236}">
                <a16:creationId xmlns:a16="http://schemas.microsoft.com/office/drawing/2014/main" id="{6EE09495-5972-4F52-A427-6BED22B5FC70}"/>
              </a:ext>
            </a:extLst>
          </p:cNvPr>
          <p:cNvSpPr>
            <a:spLocks noGrp="1"/>
          </p:cNvSpPr>
          <p:nvPr/>
        </p:nvSpPr>
        <p:spPr>
          <a:xfrm>
            <a:off x="685800" y="2257425"/>
            <a:ext cx="4267200" cy="1428750"/>
          </a:xfrm>
          <a:prstGeom prst="rect">
            <a:avLst/>
          </a:prstGeom>
          <a:noFill/>
          <a:ln w="0">
            <a:noFill/>
          </a:ln>
        </p:spPr>
        <p:txBody>
          <a:bodyPr wrap="none" lIns="0" tIns="0" rIns="0" bIns="0" anchor="t">
            <a:noAutofit/>
          </a:bodyPr>
          <a:lstStyle/>
          <a:p>
            <a:pPr algn="ctr" rtl="1">
              <a:lnSpc>
                <a:spcPct val="122000"/>
              </a:lnSpc>
              <a:buNone/>
              <a:defRPr sz="8100" b="1">
                <a:solidFill>
                  <a:srgbClr val="2457D6"/>
                </a:solidFill>
                <a:latin typeface="Vazirmatn"/>
                <a:ea typeface="Vazirmatn"/>
                <a:cs typeface="Vazirmatn"/>
              </a:defRPr>
            </a:pPr>
            <a:r>
              <a:rPr lang="fa-IR" sz="8100" b="1">
                <a:solidFill>
                  <a:srgbClr val="2457D6"/>
                </a:solidFill>
                <a:latin typeface="Vazirmatn"/>
                <a:ea typeface="Vazirmatn"/>
                <a:cs typeface="Vazirmatn"/>
              </a:rPr>
              <a:t>کرمان</a:t>
            </a:r>
          </a:p>
        </p:txBody>
      </p:sp>
      <p:sp>
        <p:nvSpPr>
          <p:cNvPr id="4" name="text-6-3">
            <a:extLst>
              <a:ext uri="{FF2B5EF4-FFF2-40B4-BE49-F238E27FC236}">
                <a16:creationId xmlns:a16="http://schemas.microsoft.com/office/drawing/2014/main" id="{363F79B7-DFED-4486-A75A-225FD24037DE}"/>
              </a:ext>
            </a:extLst>
          </p:cNvPr>
          <p:cNvSpPr>
            <a:spLocks noGrp="1"/>
          </p:cNvSpPr>
          <p:nvPr/>
        </p:nvSpPr>
        <p:spPr>
          <a:xfrm>
            <a:off x="685800" y="3886200"/>
            <a:ext cx="4267200" cy="571500"/>
          </a:xfrm>
          <a:prstGeom prst="rect">
            <a:avLst/>
          </a:prstGeom>
          <a:noFill/>
          <a:ln w="0">
            <a:noFill/>
          </a:ln>
        </p:spPr>
        <p:txBody>
          <a:bodyPr wrap="none" lIns="0" tIns="0" rIns="0" bIns="0" anchor="t">
            <a:noAutofit/>
          </a:bodyPr>
          <a:lstStyle/>
          <a:p>
            <a:pPr algn="ctr" rtl="1">
              <a:lnSpc>
                <a:spcPct val="122000"/>
              </a:lnSpc>
              <a:buNone/>
              <a:defRPr sz="2100" b="0">
                <a:solidFill>
                  <a:srgbClr val="142B4A"/>
                </a:solidFill>
                <a:latin typeface="Vazirmatn"/>
                <a:ea typeface="Vazirmatn"/>
                <a:cs typeface="Vazirmatn"/>
              </a:defRPr>
            </a:pPr>
            <a:r>
              <a:rPr lang="fa-IR" sz="2100" b="0">
                <a:solidFill>
                  <a:srgbClr val="142B4A"/>
                </a:solidFill>
                <a:latin typeface="Vazirmatn"/>
                <a:ea typeface="Vazirmatn"/>
                <a:cs typeface="Vazirmatn"/>
              </a:rPr>
              <a:t>بازار آغاز پیشنهادی</a:t>
            </a:r>
          </a:p>
        </p:txBody>
      </p:sp>
      <p:sp>
        <p:nvSpPr>
          <p:cNvPr id="5" name="text-6-4">
            <a:extLst>
              <a:ext uri="{FF2B5EF4-FFF2-40B4-BE49-F238E27FC236}">
                <a16:creationId xmlns:a16="http://schemas.microsoft.com/office/drawing/2014/main" id="{4B5D4E2D-2FFD-4DB6-86E2-BA061416FEEC}"/>
              </a:ext>
            </a:extLst>
          </p:cNvPr>
          <p:cNvSpPr>
            <a:spLocks noGrp="1"/>
          </p:cNvSpPr>
          <p:nvPr/>
        </p:nvSpPr>
        <p:spPr>
          <a:xfrm>
            <a:off x="5600700" y="1657350"/>
            <a:ext cx="5905500" cy="4572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دسترسی مستقیم به مشتری</a:t>
            </a:r>
          </a:p>
        </p:txBody>
      </p:sp>
      <p:sp>
        <p:nvSpPr>
          <p:cNvPr id="6" name="text-6-5">
            <a:extLst>
              <a:ext uri="{FF2B5EF4-FFF2-40B4-BE49-F238E27FC236}">
                <a16:creationId xmlns:a16="http://schemas.microsoft.com/office/drawing/2014/main" id="{67157D61-3C33-4EC7-B8B5-F1269A47DC30}"/>
              </a:ext>
            </a:extLst>
          </p:cNvPr>
          <p:cNvSpPr>
            <a:spLocks noGrp="1"/>
          </p:cNvSpPr>
          <p:nvPr/>
        </p:nvSpPr>
        <p:spPr>
          <a:xfrm>
            <a:off x="5353050" y="2200275"/>
            <a:ext cx="6153150" cy="561975"/>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گفت‌وگو با اهل کافه و بررسی خریدهای واقعی</a:t>
            </a:r>
          </a:p>
        </p:txBody>
      </p:sp>
      <p:sp>
        <p:nvSpPr>
          <p:cNvPr id="7" name="text-6-6">
            <a:extLst>
              <a:ext uri="{FF2B5EF4-FFF2-40B4-BE49-F238E27FC236}">
                <a16:creationId xmlns:a16="http://schemas.microsoft.com/office/drawing/2014/main" id="{D298AD79-DE60-4B70-9522-E2C9CC293089}"/>
              </a:ext>
            </a:extLst>
          </p:cNvPr>
          <p:cNvSpPr>
            <a:spLocks noGrp="1"/>
          </p:cNvSpPr>
          <p:nvPr/>
        </p:nvSpPr>
        <p:spPr>
          <a:xfrm>
            <a:off x="5600700" y="3105150"/>
            <a:ext cx="5905500" cy="4572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آغاز با سبد محدود</a:t>
            </a:r>
          </a:p>
        </p:txBody>
      </p:sp>
      <p:sp>
        <p:nvSpPr>
          <p:cNvPr id="8" name="text-6-7">
            <a:extLst>
              <a:ext uri="{FF2B5EF4-FFF2-40B4-BE49-F238E27FC236}">
                <a16:creationId xmlns:a16="http://schemas.microsoft.com/office/drawing/2014/main" id="{CF05D4E8-0747-4495-A7A7-F9347A4C655B}"/>
              </a:ext>
            </a:extLst>
          </p:cNvPr>
          <p:cNvSpPr>
            <a:spLocks noGrp="1"/>
          </p:cNvSpPr>
          <p:nvPr/>
        </p:nvSpPr>
        <p:spPr>
          <a:xfrm>
            <a:off x="5353050" y="3648075"/>
            <a:ext cx="6153150" cy="561975"/>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امتحان خدمت با یک خرید مشخص و قابل سنجش</a:t>
            </a:r>
          </a:p>
        </p:txBody>
      </p:sp>
      <p:sp>
        <p:nvSpPr>
          <p:cNvPr id="9" name="text-6-8">
            <a:extLst>
              <a:ext uri="{FF2B5EF4-FFF2-40B4-BE49-F238E27FC236}">
                <a16:creationId xmlns:a16="http://schemas.microsoft.com/office/drawing/2014/main" id="{6D06A26C-8EA3-4BA6-9AC5-821F226C542D}"/>
              </a:ext>
            </a:extLst>
          </p:cNvPr>
          <p:cNvSpPr>
            <a:spLocks noGrp="1"/>
          </p:cNvSpPr>
          <p:nvPr/>
        </p:nvSpPr>
        <p:spPr>
          <a:xfrm>
            <a:off x="5600700" y="4552950"/>
            <a:ext cx="5905500" cy="4572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توسعه پس از اثبات کیفیت</a:t>
            </a:r>
          </a:p>
        </p:txBody>
      </p:sp>
      <p:sp>
        <p:nvSpPr>
          <p:cNvPr id="10" name="text-6-9">
            <a:extLst>
              <a:ext uri="{FF2B5EF4-FFF2-40B4-BE49-F238E27FC236}">
                <a16:creationId xmlns:a16="http://schemas.microsoft.com/office/drawing/2014/main" id="{C20B5DC3-4AC9-4DE7-9F5F-DF0FEFE0EEF1}"/>
              </a:ext>
            </a:extLst>
          </p:cNvPr>
          <p:cNvSpPr>
            <a:spLocks noGrp="1"/>
          </p:cNvSpPr>
          <p:nvPr/>
        </p:nvSpPr>
        <p:spPr>
          <a:xfrm>
            <a:off x="5353050" y="5095875"/>
            <a:ext cx="6153150" cy="561975"/>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گسترش جغرافیایی پس از تثبیت تجربه خدمت</a:t>
            </a:r>
          </a:p>
        </p:txBody>
      </p:sp>
    </p:spTree>
    <p:extLst>
      <p:ext uri="{BB962C8B-B14F-4D97-AF65-F5344CB8AC3E}">
        <p14:creationId xmlns:p14="http://schemas.microsoft.com/office/powerpoint/2010/main" val="283568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7-0">
            <a:extLst>
              <a:ext uri="{FF2B5EF4-FFF2-40B4-BE49-F238E27FC236}">
                <a16:creationId xmlns:a16="http://schemas.microsoft.com/office/drawing/2014/main" id="{02DBA63F-7A8B-48FE-AE88-1023714A8ABC}"/>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قلمرو تمایز پیشنهادی</a:t>
            </a:r>
          </a:p>
        </p:txBody>
      </p:sp>
      <p:sp>
        <p:nvSpPr>
          <p:cNvPr id="2" name="text-7-1">
            <a:extLst>
              <a:ext uri="{FF2B5EF4-FFF2-40B4-BE49-F238E27FC236}">
                <a16:creationId xmlns:a16="http://schemas.microsoft.com/office/drawing/2014/main" id="{74D3326C-0FA5-425B-BE18-9927CCF6108B}"/>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۷</a:t>
            </a:r>
          </a:p>
        </p:txBody>
      </p:sp>
      <p:sp>
        <p:nvSpPr>
          <p:cNvPr id="3" name="text-7-2">
            <a:extLst>
              <a:ext uri="{FF2B5EF4-FFF2-40B4-BE49-F238E27FC236}">
                <a16:creationId xmlns:a16="http://schemas.microsoft.com/office/drawing/2014/main" id="{4E094B7D-8C62-4B67-B29A-99D633386053}"/>
              </a:ext>
            </a:extLst>
          </p:cNvPr>
          <p:cNvSpPr>
            <a:spLocks noGrp="1"/>
          </p:cNvSpPr>
          <p:nvPr/>
        </p:nvSpPr>
        <p:spPr>
          <a:xfrm>
            <a:off x="6667500" y="1857375"/>
            <a:ext cx="4838700" cy="514350"/>
          </a:xfrm>
          <a:prstGeom prst="rect">
            <a:avLst/>
          </a:prstGeom>
          <a:noFill/>
          <a:ln w="0">
            <a:noFill/>
          </a:ln>
        </p:spPr>
        <p:txBody>
          <a:bodyPr wrap="none" lIns="0" tIns="0" rIns="0" bIns="0" anchor="t">
            <a:noAutofit/>
          </a:bodyPr>
          <a:lstStyle/>
          <a:p>
            <a:pPr algn="r" rtl="1">
              <a:lnSpc>
                <a:spcPct val="122000"/>
              </a:lnSpc>
              <a:buNone/>
              <a:defRPr sz="2400" b="1">
                <a:solidFill>
                  <a:srgbClr val="2457D6"/>
                </a:solidFill>
                <a:latin typeface="Vazirmatn"/>
                <a:ea typeface="Vazirmatn"/>
                <a:cs typeface="Vazirmatn"/>
              </a:defRPr>
            </a:pPr>
            <a:r>
              <a:rPr lang="fa-IR" sz="2400" b="1">
                <a:solidFill>
                  <a:srgbClr val="2457D6"/>
                </a:solidFill>
                <a:latin typeface="Vazirmatn"/>
                <a:ea typeface="Vazirmatn"/>
                <a:cs typeface="Vazirmatn"/>
              </a:rPr>
              <a:t>خرید حرفه‌ای و تکرارشونده</a:t>
            </a:r>
          </a:p>
        </p:txBody>
      </p:sp>
      <p:sp>
        <p:nvSpPr>
          <p:cNvPr id="4" name="text-7-3">
            <a:extLst>
              <a:ext uri="{FF2B5EF4-FFF2-40B4-BE49-F238E27FC236}">
                <a16:creationId xmlns:a16="http://schemas.microsoft.com/office/drawing/2014/main" id="{DB6E7876-E945-485A-BEA2-0633D11327EB}"/>
              </a:ext>
            </a:extLst>
          </p:cNvPr>
          <p:cNvSpPr>
            <a:spLocks noGrp="1"/>
          </p:cNvSpPr>
          <p:nvPr/>
        </p:nvSpPr>
        <p:spPr>
          <a:xfrm>
            <a:off x="6667500" y="2562225"/>
            <a:ext cx="4838700" cy="876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واحد مصرف، بسته‌بندی و مشخصات</a:t>
            </a:r>
          </a:p>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متناسب با کار کافه و رستوران</a:t>
            </a:r>
          </a:p>
        </p:txBody>
      </p:sp>
      <p:sp>
        <p:nvSpPr>
          <p:cNvPr id="5" name="text-7-4">
            <a:extLst>
              <a:ext uri="{FF2B5EF4-FFF2-40B4-BE49-F238E27FC236}">
                <a16:creationId xmlns:a16="http://schemas.microsoft.com/office/drawing/2014/main" id="{63598E68-8E7F-4441-AD64-9656DB4EF83E}"/>
              </a:ext>
            </a:extLst>
          </p:cNvPr>
          <p:cNvSpPr>
            <a:spLocks noGrp="1"/>
          </p:cNvSpPr>
          <p:nvPr/>
        </p:nvSpPr>
        <p:spPr>
          <a:xfrm>
            <a:off x="685800" y="1857375"/>
            <a:ext cx="4838700" cy="514350"/>
          </a:xfrm>
          <a:prstGeom prst="rect">
            <a:avLst/>
          </a:prstGeom>
          <a:noFill/>
          <a:ln w="0">
            <a:noFill/>
          </a:ln>
        </p:spPr>
        <p:txBody>
          <a:bodyPr wrap="none" lIns="0" tIns="0" rIns="0" bIns="0" anchor="t">
            <a:noAutofit/>
          </a:bodyPr>
          <a:lstStyle/>
          <a:p>
            <a:pPr algn="r" rtl="1">
              <a:lnSpc>
                <a:spcPct val="122000"/>
              </a:lnSpc>
              <a:buNone/>
              <a:defRPr sz="2400" b="1">
                <a:solidFill>
                  <a:srgbClr val="2457D6"/>
                </a:solidFill>
                <a:latin typeface="Vazirmatn"/>
                <a:ea typeface="Vazirmatn"/>
                <a:cs typeface="Vazirmatn"/>
              </a:defRPr>
            </a:pPr>
            <a:r>
              <a:rPr lang="fa-IR" sz="2400" b="1">
                <a:solidFill>
                  <a:srgbClr val="2457D6"/>
                </a:solidFill>
                <a:latin typeface="Vazirmatn"/>
                <a:ea typeface="Vazirmatn"/>
                <a:cs typeface="Vazirmatn"/>
              </a:rPr>
              <a:t>هماهنگی نقش‌های تیم</a:t>
            </a:r>
          </a:p>
        </p:txBody>
      </p:sp>
      <p:sp>
        <p:nvSpPr>
          <p:cNvPr id="6" name="text-7-5">
            <a:extLst>
              <a:ext uri="{FF2B5EF4-FFF2-40B4-BE49-F238E27FC236}">
                <a16:creationId xmlns:a16="http://schemas.microsoft.com/office/drawing/2014/main" id="{61BAD48B-BC8A-4CBB-A36C-800833F02769}"/>
              </a:ext>
            </a:extLst>
          </p:cNvPr>
          <p:cNvSpPr>
            <a:spLocks noGrp="1"/>
          </p:cNvSpPr>
          <p:nvPr/>
        </p:nvSpPr>
        <p:spPr>
          <a:xfrm>
            <a:off x="685800" y="2562225"/>
            <a:ext cx="4838700" cy="876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ارتباط میان اعلام نیاز، انتخاب خریدار</a:t>
            </a:r>
          </a:p>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و نظارت مدیر</a:t>
            </a:r>
          </a:p>
        </p:txBody>
      </p:sp>
      <p:sp>
        <p:nvSpPr>
          <p:cNvPr id="7" name="text-7-6">
            <a:extLst>
              <a:ext uri="{FF2B5EF4-FFF2-40B4-BE49-F238E27FC236}">
                <a16:creationId xmlns:a16="http://schemas.microsoft.com/office/drawing/2014/main" id="{F506BC6B-4DFE-4528-93F6-0671DDDED835}"/>
              </a:ext>
            </a:extLst>
          </p:cNvPr>
          <p:cNvSpPr>
            <a:spLocks noGrp="1"/>
          </p:cNvSpPr>
          <p:nvPr/>
        </p:nvSpPr>
        <p:spPr>
          <a:xfrm>
            <a:off x="6667500" y="3790950"/>
            <a:ext cx="4838700" cy="514350"/>
          </a:xfrm>
          <a:prstGeom prst="rect">
            <a:avLst/>
          </a:prstGeom>
          <a:noFill/>
          <a:ln w="0">
            <a:noFill/>
          </a:ln>
        </p:spPr>
        <p:txBody>
          <a:bodyPr wrap="none" lIns="0" tIns="0" rIns="0" bIns="0" anchor="t">
            <a:noAutofit/>
          </a:bodyPr>
          <a:lstStyle/>
          <a:p>
            <a:pPr algn="r" rtl="1">
              <a:lnSpc>
                <a:spcPct val="122000"/>
              </a:lnSpc>
              <a:buNone/>
              <a:defRPr sz="2400" b="1">
                <a:solidFill>
                  <a:srgbClr val="2457D6"/>
                </a:solidFill>
                <a:latin typeface="Vazirmatn"/>
                <a:ea typeface="Vazirmatn"/>
                <a:cs typeface="Vazirmatn"/>
              </a:defRPr>
            </a:pPr>
            <a:r>
              <a:rPr lang="fa-IR" sz="2400" b="1">
                <a:solidFill>
                  <a:srgbClr val="2457D6"/>
                </a:solidFill>
                <a:latin typeface="Vazirmatn"/>
                <a:ea typeface="Vazirmatn"/>
                <a:cs typeface="Vazirmatn"/>
              </a:rPr>
              <a:t>هزینه واقعی سبد</a:t>
            </a:r>
          </a:p>
        </p:txBody>
      </p:sp>
      <p:sp>
        <p:nvSpPr>
          <p:cNvPr id="8" name="text-7-7">
            <a:extLst>
              <a:ext uri="{FF2B5EF4-FFF2-40B4-BE49-F238E27FC236}">
                <a16:creationId xmlns:a16="http://schemas.microsoft.com/office/drawing/2014/main" id="{8C4D66D9-3381-487D-8F85-C7BF8CAA6916}"/>
              </a:ext>
            </a:extLst>
          </p:cNvPr>
          <p:cNvSpPr>
            <a:spLocks noGrp="1"/>
          </p:cNvSpPr>
          <p:nvPr/>
        </p:nvSpPr>
        <p:spPr>
          <a:xfrm>
            <a:off x="6667500" y="4495800"/>
            <a:ext cx="4838700" cy="876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مقایسه کالاهای هم‌ارز با احتساب</a:t>
            </a:r>
          </a:p>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هزینه ارسال و شرایط تحویل</a:t>
            </a:r>
          </a:p>
        </p:txBody>
      </p:sp>
      <p:sp>
        <p:nvSpPr>
          <p:cNvPr id="9" name="text-7-8">
            <a:extLst>
              <a:ext uri="{FF2B5EF4-FFF2-40B4-BE49-F238E27FC236}">
                <a16:creationId xmlns:a16="http://schemas.microsoft.com/office/drawing/2014/main" id="{55553A1C-B95B-48A3-914D-D21AB45D59D1}"/>
              </a:ext>
            </a:extLst>
          </p:cNvPr>
          <p:cNvSpPr>
            <a:spLocks noGrp="1"/>
          </p:cNvSpPr>
          <p:nvPr/>
        </p:nvSpPr>
        <p:spPr>
          <a:xfrm>
            <a:off x="685800" y="3790950"/>
            <a:ext cx="4838700" cy="514350"/>
          </a:xfrm>
          <a:prstGeom prst="rect">
            <a:avLst/>
          </a:prstGeom>
          <a:noFill/>
          <a:ln w="0">
            <a:noFill/>
          </a:ln>
        </p:spPr>
        <p:txBody>
          <a:bodyPr wrap="none" lIns="0" tIns="0" rIns="0" bIns="0" anchor="t">
            <a:noAutofit/>
          </a:bodyPr>
          <a:lstStyle/>
          <a:p>
            <a:pPr algn="r" rtl="1">
              <a:lnSpc>
                <a:spcPct val="122000"/>
              </a:lnSpc>
              <a:buNone/>
              <a:defRPr sz="2400" b="1">
                <a:solidFill>
                  <a:srgbClr val="2457D6"/>
                </a:solidFill>
                <a:latin typeface="Vazirmatn"/>
                <a:ea typeface="Vazirmatn"/>
                <a:cs typeface="Vazirmatn"/>
              </a:defRPr>
            </a:pPr>
            <a:r>
              <a:rPr lang="fa-IR" sz="2400" b="1">
                <a:solidFill>
                  <a:srgbClr val="2457D6"/>
                </a:solidFill>
                <a:latin typeface="Vazirmatn"/>
                <a:ea typeface="Vazirmatn"/>
                <a:cs typeface="Vazirmatn"/>
              </a:rPr>
              <a:t>خدمت محلی قابل پیگیری</a:t>
            </a:r>
          </a:p>
        </p:txBody>
      </p:sp>
      <p:sp>
        <p:nvSpPr>
          <p:cNvPr id="10" name="text-7-9">
            <a:extLst>
              <a:ext uri="{FF2B5EF4-FFF2-40B4-BE49-F238E27FC236}">
                <a16:creationId xmlns:a16="http://schemas.microsoft.com/office/drawing/2014/main" id="{3A130B4D-2552-4412-8F72-DC2E3C03D3AC}"/>
              </a:ext>
            </a:extLst>
          </p:cNvPr>
          <p:cNvSpPr>
            <a:spLocks noGrp="1"/>
          </p:cNvSpPr>
          <p:nvPr/>
        </p:nvSpPr>
        <p:spPr>
          <a:xfrm>
            <a:off x="685800" y="4495800"/>
            <a:ext cx="4838700" cy="87630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وضعیت روشن سفارش و مسئولیت</a:t>
            </a:r>
          </a:p>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مشخص در رسیدگی به مسئله</a:t>
            </a:r>
          </a:p>
        </p:txBody>
      </p:sp>
      <p:sp>
        <p:nvSpPr>
          <p:cNvPr id="11" name="text-7-10">
            <a:extLst>
              <a:ext uri="{FF2B5EF4-FFF2-40B4-BE49-F238E27FC236}">
                <a16:creationId xmlns:a16="http://schemas.microsoft.com/office/drawing/2014/main" id="{D0D04F16-D020-489F-82E8-A1B5B9FB2070}"/>
              </a:ext>
            </a:extLst>
          </p:cNvPr>
          <p:cNvSpPr>
            <a:spLocks noGrp="1"/>
          </p:cNvSpPr>
          <p:nvPr/>
        </p:nvSpPr>
        <p:spPr>
          <a:xfrm>
            <a:off x="685800" y="5791200"/>
            <a:ext cx="10820400" cy="419100"/>
          </a:xfrm>
          <a:prstGeom prst="rect">
            <a:avLst/>
          </a:prstGeom>
          <a:noFill/>
          <a:ln w="0">
            <a:noFill/>
          </a:ln>
        </p:spPr>
        <p:txBody>
          <a:bodyPr wrap="none" lIns="0" tIns="0" rIns="0" bIns="0" anchor="t">
            <a:noAutofit/>
          </a:bodyPr>
          <a:lstStyle/>
          <a:p>
            <a:pPr algn="r" rtl="1">
              <a:lnSpc>
                <a:spcPct val="122000"/>
              </a:lnSpc>
              <a:buNone/>
              <a:defRPr sz="1950" b="0">
                <a:solidFill>
                  <a:srgbClr val="142B4A"/>
                </a:solidFill>
                <a:latin typeface="Vazirmatn"/>
                <a:ea typeface="Vazirmatn"/>
                <a:cs typeface="Vazirmatn"/>
              </a:defRPr>
            </a:pPr>
            <a:r>
              <a:rPr lang="fa-IR" sz="1950" b="0">
                <a:solidFill>
                  <a:srgbClr val="142B4A"/>
                </a:solidFill>
                <a:latin typeface="Vazirmatn"/>
                <a:ea typeface="Vazirmatn"/>
                <a:cs typeface="Vazirmatn"/>
              </a:rPr>
              <a:t>جایگزین رایج امروز: تماس یا پیام به تأمین‌کننده آشنا</a:t>
            </a:r>
          </a:p>
        </p:txBody>
      </p:sp>
    </p:spTree>
    <p:extLst>
      <p:ext uri="{BB962C8B-B14F-4D97-AF65-F5344CB8AC3E}">
        <p14:creationId xmlns:p14="http://schemas.microsoft.com/office/powerpoint/2010/main" val="1912488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8-0">
            <a:extLst>
              <a:ext uri="{FF2B5EF4-FFF2-40B4-BE49-F238E27FC236}">
                <a16:creationId xmlns:a16="http://schemas.microsoft.com/office/drawing/2014/main" id="{B961D7FD-68BA-41A2-890D-2DBE7B0B65C6}"/>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مدل درآمدی پیشنهادی</a:t>
            </a:r>
          </a:p>
        </p:txBody>
      </p:sp>
      <p:sp>
        <p:nvSpPr>
          <p:cNvPr id="2" name="text-8-1">
            <a:extLst>
              <a:ext uri="{FF2B5EF4-FFF2-40B4-BE49-F238E27FC236}">
                <a16:creationId xmlns:a16="http://schemas.microsoft.com/office/drawing/2014/main" id="{1BC4F3F6-8505-4013-A0EF-5FC188597508}"/>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۸</a:t>
            </a:r>
          </a:p>
        </p:txBody>
      </p:sp>
      <p:sp>
        <p:nvSpPr>
          <p:cNvPr id="3" name="text-8-2">
            <a:extLst>
              <a:ext uri="{FF2B5EF4-FFF2-40B4-BE49-F238E27FC236}">
                <a16:creationId xmlns:a16="http://schemas.microsoft.com/office/drawing/2014/main" id="{E8DE0441-6ECE-4F23-BDF9-BAA1CBADE616}"/>
              </a:ext>
            </a:extLst>
          </p:cNvPr>
          <p:cNvSpPr>
            <a:spLocks noGrp="1"/>
          </p:cNvSpPr>
          <p:nvPr/>
        </p:nvSpPr>
        <p:spPr>
          <a:xfrm>
            <a:off x="6838950" y="1724025"/>
            <a:ext cx="4667250" cy="657225"/>
          </a:xfrm>
          <a:prstGeom prst="rect">
            <a:avLst/>
          </a:prstGeom>
          <a:noFill/>
          <a:ln w="0">
            <a:noFill/>
          </a:ln>
        </p:spPr>
        <p:txBody>
          <a:bodyPr wrap="none" lIns="0" tIns="0" rIns="0" bIns="0" anchor="t">
            <a:noAutofit/>
          </a:bodyPr>
          <a:lstStyle/>
          <a:p>
            <a:pPr algn="r" rtl="1">
              <a:lnSpc>
                <a:spcPct val="122000"/>
              </a:lnSpc>
              <a:buNone/>
              <a:defRPr sz="3300" b="1">
                <a:solidFill>
                  <a:srgbClr val="2457D6"/>
                </a:solidFill>
                <a:latin typeface="Vazirmatn"/>
                <a:ea typeface="Vazirmatn"/>
                <a:cs typeface="Vazirmatn"/>
              </a:defRPr>
            </a:pPr>
            <a:r>
              <a:rPr lang="fa-IR" sz="3300" b="1">
                <a:solidFill>
                  <a:srgbClr val="2457D6"/>
                </a:solidFill>
                <a:latin typeface="Vazirmatn"/>
                <a:ea typeface="Vazirmatn"/>
                <a:cs typeface="Vazirmatn"/>
              </a:rPr>
              <a:t>اشتراک</a:t>
            </a:r>
          </a:p>
        </p:txBody>
      </p:sp>
      <p:sp>
        <p:nvSpPr>
          <p:cNvPr id="4" name="text-8-3">
            <a:extLst>
              <a:ext uri="{FF2B5EF4-FFF2-40B4-BE49-F238E27FC236}">
                <a16:creationId xmlns:a16="http://schemas.microsoft.com/office/drawing/2014/main" id="{063384BB-78AF-4EE3-96A8-BAAD9B0C16FB}"/>
              </a:ext>
            </a:extLst>
          </p:cNvPr>
          <p:cNvSpPr>
            <a:spLocks noGrp="1"/>
          </p:cNvSpPr>
          <p:nvPr/>
        </p:nvSpPr>
        <p:spPr>
          <a:xfrm>
            <a:off x="6191250" y="2724150"/>
            <a:ext cx="5314950" cy="485775"/>
          </a:xfrm>
          <a:prstGeom prst="rect">
            <a:avLst/>
          </a:prstGeom>
          <a:noFill/>
          <a:ln w="0">
            <a:noFill/>
          </a:ln>
        </p:spPr>
        <p:txBody>
          <a:bodyPr wrap="none" lIns="0" tIns="0" rIns="0" bIns="0" anchor="t">
            <a:noAutofit/>
          </a:bodyPr>
          <a:lstStyle/>
          <a:p>
            <a:pPr algn="r" rtl="1">
              <a:lnSpc>
                <a:spcPct val="122000"/>
              </a:lnSpc>
              <a:buNone/>
              <a:defRPr sz="2175" b="1">
                <a:solidFill>
                  <a:srgbClr val="142B4A"/>
                </a:solidFill>
                <a:latin typeface="Vazirmatn"/>
                <a:ea typeface="Vazirmatn"/>
                <a:cs typeface="Vazirmatn"/>
              </a:defRPr>
            </a:pPr>
            <a:r>
              <a:rPr lang="fa-IR" sz="2175" b="1">
                <a:solidFill>
                  <a:srgbClr val="142B4A"/>
                </a:solidFill>
                <a:latin typeface="Vazirmatn"/>
                <a:ea typeface="Vazirmatn"/>
                <a:cs typeface="Vazirmatn"/>
              </a:rPr>
              <a:t>دسترسی به خدمات با منفعت روشن</a:t>
            </a:r>
          </a:p>
        </p:txBody>
      </p:sp>
      <p:sp>
        <p:nvSpPr>
          <p:cNvPr id="5" name="text-8-4">
            <a:extLst>
              <a:ext uri="{FF2B5EF4-FFF2-40B4-BE49-F238E27FC236}">
                <a16:creationId xmlns:a16="http://schemas.microsoft.com/office/drawing/2014/main" id="{6C6C31B6-725F-4BF3-94FD-A8F7F34581E9}"/>
              </a:ext>
            </a:extLst>
          </p:cNvPr>
          <p:cNvSpPr>
            <a:spLocks noGrp="1"/>
          </p:cNvSpPr>
          <p:nvPr/>
        </p:nvSpPr>
        <p:spPr>
          <a:xfrm>
            <a:off x="6191250" y="3476625"/>
            <a:ext cx="5314950" cy="1038225"/>
          </a:xfrm>
          <a:prstGeom prst="rect">
            <a:avLst/>
          </a:prstGeom>
          <a:noFill/>
          <a:ln w="0">
            <a:noFill/>
          </a:ln>
        </p:spPr>
        <p:txBody>
          <a:bodyPr wrap="none" lIns="0" tIns="0" rIns="0" bIns="0" anchor="t">
            <a:noAutofit/>
          </a:bodyPr>
          <a:lstStyle/>
          <a:p>
            <a:pPr algn="r" rtl="1">
              <a:lnSpc>
                <a:spcPct val="122000"/>
              </a:lnSpc>
              <a:buNone/>
              <a:defRPr sz="2025" b="0">
                <a:solidFill>
                  <a:srgbClr val="58677C"/>
                </a:solidFill>
                <a:latin typeface="Vazirmatn"/>
                <a:ea typeface="Vazirmatn"/>
                <a:cs typeface="Vazirmatn"/>
              </a:defRPr>
            </a:pPr>
            <a:r>
              <a:rPr lang="fa-IR" sz="2025" b="0">
                <a:solidFill>
                  <a:srgbClr val="58677C"/>
                </a:solidFill>
                <a:latin typeface="Vazirmatn"/>
                <a:ea typeface="Vazirmatn"/>
                <a:cs typeface="Vazirmatn"/>
              </a:rPr>
              <a:t>تعریف بسته و قیمت، متناسب با ارزش</a:t>
            </a:r>
          </a:p>
          <a:p>
            <a:pPr algn="r" rtl="1">
              <a:lnSpc>
                <a:spcPct val="122000"/>
              </a:lnSpc>
              <a:buNone/>
              <a:defRPr sz="2025" b="0">
                <a:solidFill>
                  <a:srgbClr val="58677C"/>
                </a:solidFill>
                <a:latin typeface="Vazirmatn"/>
                <a:ea typeface="Vazirmatn"/>
                <a:cs typeface="Vazirmatn"/>
              </a:defRPr>
            </a:pPr>
            <a:r>
              <a:rPr lang="fa-IR" sz="2025" b="0">
                <a:solidFill>
                  <a:srgbClr val="58677C"/>
                </a:solidFill>
                <a:latin typeface="Vazirmatn"/>
                <a:ea typeface="Vazirmatn"/>
                <a:cs typeface="Vazirmatn"/>
              </a:rPr>
              <a:t>خدمت و نتیجه آزمون با مشتری</a:t>
            </a:r>
          </a:p>
        </p:txBody>
      </p:sp>
      <p:sp>
        <p:nvSpPr>
          <p:cNvPr id="6" name="text-8-5">
            <a:extLst>
              <a:ext uri="{FF2B5EF4-FFF2-40B4-BE49-F238E27FC236}">
                <a16:creationId xmlns:a16="http://schemas.microsoft.com/office/drawing/2014/main" id="{57B2DC50-3E5B-4517-AA60-2508AE5F31C3}"/>
              </a:ext>
            </a:extLst>
          </p:cNvPr>
          <p:cNvSpPr>
            <a:spLocks noGrp="1"/>
          </p:cNvSpPr>
          <p:nvPr/>
        </p:nvSpPr>
        <p:spPr>
          <a:xfrm>
            <a:off x="685800" y="1724025"/>
            <a:ext cx="4781550" cy="581025"/>
          </a:xfrm>
          <a:prstGeom prst="rect">
            <a:avLst/>
          </a:prstGeom>
          <a:noFill/>
          <a:ln w="0">
            <a:noFill/>
          </a:ln>
        </p:spPr>
        <p:txBody>
          <a:bodyPr wrap="none" lIns="0" tIns="0" rIns="0" bIns="0" anchor="t">
            <a:noAutofit/>
          </a:bodyPr>
          <a:lstStyle/>
          <a:p>
            <a:pPr algn="r" rtl="1">
              <a:lnSpc>
                <a:spcPct val="122000"/>
              </a:lnSpc>
              <a:buNone/>
              <a:defRPr sz="2625" b="1">
                <a:solidFill>
                  <a:srgbClr val="2457D6"/>
                </a:solidFill>
                <a:latin typeface="Vazirmatn"/>
                <a:ea typeface="Vazirmatn"/>
                <a:cs typeface="Vazirmatn"/>
              </a:defRPr>
            </a:pPr>
            <a:r>
              <a:rPr lang="fa-IR" sz="2625" b="1">
                <a:solidFill>
                  <a:srgbClr val="2457D6"/>
                </a:solidFill>
                <a:latin typeface="Vazirmatn"/>
                <a:ea typeface="Vazirmatn"/>
                <a:cs typeface="Vazirmatn"/>
              </a:rPr>
              <a:t>کمیسیون تأمین‌کننده</a:t>
            </a:r>
          </a:p>
        </p:txBody>
      </p:sp>
      <p:sp>
        <p:nvSpPr>
          <p:cNvPr id="7" name="text-8-6">
            <a:extLst>
              <a:ext uri="{FF2B5EF4-FFF2-40B4-BE49-F238E27FC236}">
                <a16:creationId xmlns:a16="http://schemas.microsoft.com/office/drawing/2014/main" id="{38545122-8EF2-400A-89F7-F09A986E2C73}"/>
              </a:ext>
            </a:extLst>
          </p:cNvPr>
          <p:cNvSpPr>
            <a:spLocks noGrp="1"/>
          </p:cNvSpPr>
          <p:nvPr/>
        </p:nvSpPr>
        <p:spPr>
          <a:xfrm>
            <a:off x="685800" y="2676525"/>
            <a:ext cx="4781550" cy="847725"/>
          </a:xfrm>
          <a:prstGeom prst="rect">
            <a:avLst/>
          </a:prstGeom>
          <a:noFill/>
          <a:ln w="0">
            <a:noFill/>
          </a:ln>
        </p:spPr>
        <p:txBody>
          <a:bodyPr wrap="none" lIns="0" tIns="0" rIns="0" bIns="0" anchor="t">
            <a:noAutofit/>
          </a:bodyPr>
          <a:lstStyle/>
          <a:p>
            <a:pPr algn="r" rtl="1">
              <a:lnSpc>
                <a:spcPct val="122000"/>
              </a:lnSpc>
              <a:buNone/>
              <a:defRPr sz="4575" b="1">
                <a:solidFill>
                  <a:srgbClr val="142B4A"/>
                </a:solidFill>
                <a:latin typeface="Vazirmatn"/>
                <a:ea typeface="Vazirmatn"/>
                <a:cs typeface="Vazirmatn"/>
              </a:defRPr>
            </a:pPr>
            <a:r>
              <a:rPr lang="fa-IR" sz="4575" b="1">
                <a:solidFill>
                  <a:srgbClr val="142B4A"/>
                </a:solidFill>
                <a:latin typeface="Vazirmatn"/>
                <a:ea typeface="Vazirmatn"/>
                <a:cs typeface="Vazirmatn"/>
              </a:rPr>
              <a:t>۱ تا ۵ درصد</a:t>
            </a:r>
          </a:p>
        </p:txBody>
      </p:sp>
      <p:sp>
        <p:nvSpPr>
          <p:cNvPr id="8" name="text-8-7">
            <a:extLst>
              <a:ext uri="{FF2B5EF4-FFF2-40B4-BE49-F238E27FC236}">
                <a16:creationId xmlns:a16="http://schemas.microsoft.com/office/drawing/2014/main" id="{9960CBC7-F50C-4550-8EC0-9E648C9B18B9}"/>
              </a:ext>
            </a:extLst>
          </p:cNvPr>
          <p:cNvSpPr>
            <a:spLocks noGrp="1"/>
          </p:cNvSpPr>
          <p:nvPr/>
        </p:nvSpPr>
        <p:spPr>
          <a:xfrm>
            <a:off x="495300" y="3752850"/>
            <a:ext cx="4972050" cy="552450"/>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برای تأمین‌کننده دارای اشتراک: ۱ درصد</a:t>
            </a:r>
          </a:p>
        </p:txBody>
      </p:sp>
      <p:sp>
        <p:nvSpPr>
          <p:cNvPr id="9" name="text-8-8">
            <a:extLst>
              <a:ext uri="{FF2B5EF4-FFF2-40B4-BE49-F238E27FC236}">
                <a16:creationId xmlns:a16="http://schemas.microsoft.com/office/drawing/2014/main" id="{061E9D7F-9B57-4891-846B-155E1B400467}"/>
              </a:ext>
            </a:extLst>
          </p:cNvPr>
          <p:cNvSpPr>
            <a:spLocks noGrp="1"/>
          </p:cNvSpPr>
          <p:nvPr/>
        </p:nvSpPr>
        <p:spPr>
          <a:xfrm>
            <a:off x="685800" y="5381625"/>
            <a:ext cx="10820400" cy="628650"/>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شفافیت هزینه و معیار رتبه‌بندی، شرط اعتماد خریدار است.</a:t>
            </a:r>
          </a:p>
        </p:txBody>
      </p:sp>
    </p:spTree>
    <p:extLst>
      <p:ext uri="{BB962C8B-B14F-4D97-AF65-F5344CB8AC3E}">
        <p14:creationId xmlns:p14="http://schemas.microsoft.com/office/powerpoint/2010/main" val="2066213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9" name="text-9-0">
            <a:extLst>
              <a:ext uri="{FF2B5EF4-FFF2-40B4-BE49-F238E27FC236}">
                <a16:creationId xmlns:a16="http://schemas.microsoft.com/office/drawing/2014/main" id="{D7B3CA0E-12EF-4E9B-B555-06877E9BB33C}"/>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FFFFFF"/>
                </a:solidFill>
                <a:latin typeface="Vazirmatn"/>
                <a:ea typeface="Vazirmatn"/>
                <a:cs typeface="Vazirmatn"/>
              </a:defRPr>
            </a:pPr>
            <a:r>
              <a:rPr lang="fa-IR" sz="3300" b="1">
                <a:solidFill>
                  <a:srgbClr val="FFFFFF"/>
                </a:solidFill>
                <a:latin typeface="Vazirmatn"/>
                <a:ea typeface="Vazirmatn"/>
                <a:cs typeface="Vazirmatn"/>
              </a:rPr>
              <a:t>بنیان‌گذار و شناخت مسئله</a:t>
            </a:r>
          </a:p>
        </p:txBody>
      </p:sp>
      <p:sp>
        <p:nvSpPr>
          <p:cNvPr id="2" name="text-9-1">
            <a:extLst>
              <a:ext uri="{FF2B5EF4-FFF2-40B4-BE49-F238E27FC236}">
                <a16:creationId xmlns:a16="http://schemas.microsoft.com/office/drawing/2014/main" id="{5A325501-C109-42E0-BE9C-2651F6D408E6}"/>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EAF2FF"/>
                </a:solidFill>
                <a:latin typeface="Vazirmatn"/>
                <a:ea typeface="Vazirmatn"/>
                <a:cs typeface="Vazirmatn"/>
              </a:defRPr>
            </a:pPr>
            <a:r>
              <a:rPr lang="fa-IR" sz="1350" b="0">
                <a:solidFill>
                  <a:srgbClr val="EAF2FF"/>
                </a:solidFill>
                <a:latin typeface="Vazirmatn"/>
                <a:ea typeface="Vazirmatn"/>
                <a:cs typeface="Vazirmatn"/>
              </a:rPr>
              <a:t>۹</a:t>
            </a:r>
          </a:p>
        </p:txBody>
      </p:sp>
      <p:sp>
        <p:nvSpPr>
          <p:cNvPr id="3" name="text-9-2">
            <a:extLst>
              <a:ext uri="{FF2B5EF4-FFF2-40B4-BE49-F238E27FC236}">
                <a16:creationId xmlns:a16="http://schemas.microsoft.com/office/drawing/2014/main" id="{01523B26-6797-43CE-9551-6A1A14C7EDD4}"/>
              </a:ext>
            </a:extLst>
          </p:cNvPr>
          <p:cNvSpPr>
            <a:spLocks noGrp="1"/>
          </p:cNvSpPr>
          <p:nvPr/>
        </p:nvSpPr>
        <p:spPr>
          <a:xfrm>
            <a:off x="6324600" y="2171700"/>
            <a:ext cx="5181600" cy="1076325"/>
          </a:xfrm>
          <a:prstGeom prst="rect">
            <a:avLst/>
          </a:prstGeom>
          <a:noFill/>
          <a:ln w="0">
            <a:noFill/>
          </a:ln>
        </p:spPr>
        <p:txBody>
          <a:bodyPr wrap="none" lIns="0" tIns="0" rIns="0" bIns="0" anchor="t">
            <a:noAutofit/>
          </a:bodyPr>
          <a:lstStyle/>
          <a:p>
            <a:pPr algn="r" rtl="1">
              <a:lnSpc>
                <a:spcPct val="122000"/>
              </a:lnSpc>
              <a:buNone/>
              <a:defRPr sz="4800" b="1">
                <a:solidFill>
                  <a:srgbClr val="FFFFFF"/>
                </a:solidFill>
                <a:latin typeface="Vazirmatn"/>
                <a:ea typeface="Vazirmatn"/>
                <a:cs typeface="Vazirmatn"/>
              </a:defRPr>
            </a:pPr>
            <a:r>
              <a:rPr lang="fa-IR" sz="4800" b="1">
                <a:solidFill>
                  <a:srgbClr val="FFFFFF"/>
                </a:solidFill>
                <a:latin typeface="Vazirmatn"/>
                <a:ea typeface="Vazirmatn"/>
                <a:cs typeface="Vazirmatn"/>
              </a:rPr>
              <a:t>اردشیر آذری</a:t>
            </a:r>
          </a:p>
        </p:txBody>
      </p:sp>
      <p:sp>
        <p:nvSpPr>
          <p:cNvPr id="4" name="text-9-3">
            <a:extLst>
              <a:ext uri="{FF2B5EF4-FFF2-40B4-BE49-F238E27FC236}">
                <a16:creationId xmlns:a16="http://schemas.microsoft.com/office/drawing/2014/main" id="{726E2174-DEB5-497D-A8C3-C8EC97BAAF5B}"/>
              </a:ext>
            </a:extLst>
          </p:cNvPr>
          <p:cNvSpPr>
            <a:spLocks noGrp="1"/>
          </p:cNvSpPr>
          <p:nvPr/>
        </p:nvSpPr>
        <p:spPr>
          <a:xfrm>
            <a:off x="6324600" y="3514725"/>
            <a:ext cx="5181600" cy="533400"/>
          </a:xfrm>
          <a:prstGeom prst="rect">
            <a:avLst/>
          </a:prstGeom>
          <a:noFill/>
          <a:ln w="0">
            <a:noFill/>
          </a:ln>
        </p:spPr>
        <p:txBody>
          <a:bodyPr wrap="none" lIns="0" tIns="0" rIns="0" bIns="0" anchor="t">
            <a:noAutofit/>
          </a:bodyPr>
          <a:lstStyle/>
          <a:p>
            <a:pPr algn="r" rtl="1">
              <a:lnSpc>
                <a:spcPct val="122000"/>
              </a:lnSpc>
              <a:buNone/>
              <a:defRPr sz="2325" b="0">
                <a:solidFill>
                  <a:srgbClr val="FFAD33"/>
                </a:solidFill>
                <a:latin typeface="Vazirmatn"/>
                <a:ea typeface="Vazirmatn"/>
                <a:cs typeface="Vazirmatn"/>
              </a:defRPr>
            </a:pPr>
            <a:r>
              <a:rPr lang="fa-IR" sz="2325" b="0">
                <a:solidFill>
                  <a:srgbClr val="FFAD33"/>
                </a:solidFill>
                <a:latin typeface="Vazirmatn"/>
                <a:ea typeface="Vazirmatn"/>
                <a:cs typeface="Vazirmatn"/>
              </a:rPr>
              <a:t>بنیان‌گذار سفارش</a:t>
            </a:r>
          </a:p>
        </p:txBody>
      </p:sp>
      <p:sp>
        <p:nvSpPr>
          <p:cNvPr id="5" name="text-9-4">
            <a:extLst>
              <a:ext uri="{FF2B5EF4-FFF2-40B4-BE49-F238E27FC236}">
                <a16:creationId xmlns:a16="http://schemas.microsoft.com/office/drawing/2014/main" id="{DEBB98DE-E9A6-455E-83C2-E9E4E5BEB593}"/>
              </a:ext>
            </a:extLst>
          </p:cNvPr>
          <p:cNvSpPr>
            <a:spLocks noGrp="1"/>
          </p:cNvSpPr>
          <p:nvPr/>
        </p:nvSpPr>
        <p:spPr>
          <a:xfrm>
            <a:off x="685800" y="2057400"/>
            <a:ext cx="4572000" cy="866775"/>
          </a:xfrm>
          <a:prstGeom prst="rect">
            <a:avLst/>
          </a:prstGeom>
          <a:noFill/>
          <a:ln w="0">
            <a:noFill/>
          </a:ln>
        </p:spPr>
        <p:txBody>
          <a:bodyPr wrap="none" lIns="0" tIns="0" rIns="0" bIns="0" anchor="t">
            <a:noAutofit/>
          </a:bodyPr>
          <a:lstStyle/>
          <a:p>
            <a:pPr algn="r" rtl="1">
              <a:lnSpc>
                <a:spcPct val="122000"/>
              </a:lnSpc>
              <a:buNone/>
              <a:defRPr sz="3975" b="1">
                <a:solidFill>
                  <a:srgbClr val="FFAD33"/>
                </a:solidFill>
                <a:latin typeface="Vazirmatn"/>
                <a:ea typeface="Vazirmatn"/>
                <a:cs typeface="Vazirmatn"/>
              </a:defRPr>
            </a:pPr>
            <a:r>
              <a:rPr lang="fa-IR" sz="3975" b="1">
                <a:solidFill>
                  <a:srgbClr val="FFAD33"/>
                </a:solidFill>
                <a:latin typeface="Vazirmatn"/>
                <a:ea typeface="Vazirmatn"/>
                <a:cs typeface="Vazirmatn"/>
              </a:rPr>
              <a:t>حدود ۵ سال</a:t>
            </a:r>
          </a:p>
        </p:txBody>
      </p:sp>
      <p:sp>
        <p:nvSpPr>
          <p:cNvPr id="6" name="text-9-5">
            <a:extLst>
              <a:ext uri="{FF2B5EF4-FFF2-40B4-BE49-F238E27FC236}">
                <a16:creationId xmlns:a16="http://schemas.microsoft.com/office/drawing/2014/main" id="{7B85C97E-3F56-42E6-92BB-5EAEF2DE4EE3}"/>
              </a:ext>
            </a:extLst>
          </p:cNvPr>
          <p:cNvSpPr>
            <a:spLocks noGrp="1"/>
          </p:cNvSpPr>
          <p:nvPr/>
        </p:nvSpPr>
        <p:spPr>
          <a:xfrm>
            <a:off x="685800" y="3133725"/>
            <a:ext cx="4572000" cy="542925"/>
          </a:xfrm>
          <a:prstGeom prst="rect">
            <a:avLst/>
          </a:prstGeom>
          <a:noFill/>
          <a:ln w="0">
            <a:noFill/>
          </a:ln>
        </p:spPr>
        <p:txBody>
          <a:bodyPr wrap="none" lIns="0" tIns="0" rIns="0" bIns="0" anchor="t">
            <a:noAutofit/>
          </a:bodyPr>
          <a:lstStyle/>
          <a:p>
            <a:pPr algn="r" rtl="1">
              <a:lnSpc>
                <a:spcPct val="122000"/>
              </a:lnSpc>
              <a:buNone/>
              <a:defRPr sz="2025" b="0">
                <a:solidFill>
                  <a:srgbClr val="FFFFFF"/>
                </a:solidFill>
                <a:latin typeface="Vazirmatn"/>
                <a:ea typeface="Vazirmatn"/>
                <a:cs typeface="Vazirmatn"/>
              </a:defRPr>
            </a:pPr>
            <a:r>
              <a:rPr lang="fa-IR" sz="2025" b="0">
                <a:solidFill>
                  <a:srgbClr val="FFFFFF"/>
                </a:solidFill>
                <a:latin typeface="Vazirmatn"/>
                <a:ea typeface="Vazirmatn"/>
                <a:cs typeface="Vazirmatn"/>
              </a:rPr>
              <a:t>تجربه باریستا بودن و مدیریت کافه</a:t>
            </a:r>
          </a:p>
        </p:txBody>
      </p:sp>
      <p:sp>
        <p:nvSpPr>
          <p:cNvPr id="7" name="text-9-6">
            <a:extLst>
              <a:ext uri="{FF2B5EF4-FFF2-40B4-BE49-F238E27FC236}">
                <a16:creationId xmlns:a16="http://schemas.microsoft.com/office/drawing/2014/main" id="{19A899E1-E8A6-499E-9DD7-95F11B85E4A4}"/>
              </a:ext>
            </a:extLst>
          </p:cNvPr>
          <p:cNvSpPr>
            <a:spLocks noGrp="1"/>
          </p:cNvSpPr>
          <p:nvPr/>
        </p:nvSpPr>
        <p:spPr>
          <a:xfrm>
            <a:off x="685800" y="3800475"/>
            <a:ext cx="4572000" cy="419100"/>
          </a:xfrm>
          <a:prstGeom prst="rect">
            <a:avLst/>
          </a:prstGeom>
          <a:noFill/>
          <a:ln w="0">
            <a:noFill/>
          </a:ln>
        </p:spPr>
        <p:txBody>
          <a:bodyPr wrap="none" lIns="0" tIns="0" rIns="0" bIns="0" anchor="t">
            <a:noAutofit/>
          </a:bodyPr>
          <a:lstStyle/>
          <a:p>
            <a:pPr algn="r" rtl="1">
              <a:lnSpc>
                <a:spcPct val="122000"/>
              </a:lnSpc>
              <a:buNone/>
              <a:defRPr sz="1650" b="0">
                <a:solidFill>
                  <a:srgbClr val="EAF2FF"/>
                </a:solidFill>
                <a:latin typeface="Vazirmatn"/>
                <a:ea typeface="Vazirmatn"/>
                <a:cs typeface="Vazirmatn"/>
              </a:defRPr>
            </a:pPr>
            <a:r>
              <a:rPr lang="fa-IR" sz="1650" b="0">
                <a:solidFill>
                  <a:srgbClr val="EAF2FF"/>
                </a:solidFill>
                <a:latin typeface="Vazirmatn"/>
                <a:ea typeface="Vazirmatn"/>
                <a:cs typeface="Vazirmatn"/>
              </a:rPr>
              <a:t>طبق شرح بنیان‌گذار در راهنمای برند</a:t>
            </a:r>
          </a:p>
        </p:txBody>
      </p:sp>
      <p:sp>
        <p:nvSpPr>
          <p:cNvPr id="8" name="text-9-7">
            <a:extLst>
              <a:ext uri="{FF2B5EF4-FFF2-40B4-BE49-F238E27FC236}">
                <a16:creationId xmlns:a16="http://schemas.microsoft.com/office/drawing/2014/main" id="{107F458E-5758-4DB6-99C2-DDE86EF85F88}"/>
              </a:ext>
            </a:extLst>
          </p:cNvPr>
          <p:cNvSpPr>
            <a:spLocks noGrp="1"/>
          </p:cNvSpPr>
          <p:nvPr/>
        </p:nvSpPr>
        <p:spPr>
          <a:xfrm>
            <a:off x="685800" y="5353050"/>
            <a:ext cx="10820400" cy="647700"/>
          </a:xfrm>
          <a:prstGeom prst="rect">
            <a:avLst/>
          </a:prstGeom>
          <a:noFill/>
          <a:ln w="0">
            <a:noFill/>
          </a:ln>
        </p:spPr>
        <p:txBody>
          <a:bodyPr wrap="none" lIns="0" tIns="0" rIns="0" bIns="0" anchor="t">
            <a:noAutofit/>
          </a:bodyPr>
          <a:lstStyle/>
          <a:p>
            <a:pPr algn="r" rtl="1">
              <a:lnSpc>
                <a:spcPct val="122000"/>
              </a:lnSpc>
              <a:buNone/>
              <a:defRPr sz="2475" b="1">
                <a:solidFill>
                  <a:srgbClr val="FFFFFF"/>
                </a:solidFill>
                <a:latin typeface="Vazirmatn"/>
                <a:ea typeface="Vazirmatn"/>
                <a:cs typeface="Vazirmatn"/>
              </a:defRPr>
            </a:pPr>
            <a:r>
              <a:rPr lang="fa-IR" sz="2475" b="1">
                <a:solidFill>
                  <a:srgbClr val="FFFFFF"/>
                </a:solidFill>
                <a:latin typeface="Vazirmatn"/>
                <a:ea typeface="Vazirmatn"/>
                <a:cs typeface="Vazirmatn"/>
              </a:rPr>
              <a:t>شناخت کار روزمره کافه، مبنای طراحی مسیر خرید</a:t>
            </a:r>
          </a:p>
        </p:txBody>
      </p:sp>
    </p:spTree>
    <p:extLst>
      <p:ext uri="{BB962C8B-B14F-4D97-AF65-F5344CB8AC3E}">
        <p14:creationId xmlns:p14="http://schemas.microsoft.com/office/powerpoint/2010/main" val="1487294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10-0">
            <a:extLst>
              <a:ext uri="{FF2B5EF4-FFF2-40B4-BE49-F238E27FC236}">
                <a16:creationId xmlns:a16="http://schemas.microsoft.com/office/drawing/2014/main" id="{878B7AD1-052F-47DF-B429-326D110A9754}"/>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مسیر پیشنهادی پایلوت</a:t>
            </a:r>
          </a:p>
        </p:txBody>
      </p:sp>
      <p:sp>
        <p:nvSpPr>
          <p:cNvPr id="2" name="text-10-1">
            <a:extLst>
              <a:ext uri="{FF2B5EF4-FFF2-40B4-BE49-F238E27FC236}">
                <a16:creationId xmlns:a16="http://schemas.microsoft.com/office/drawing/2014/main" id="{A037E5BC-047C-45AA-9210-F2685844CE11}"/>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۱۰</a:t>
            </a:r>
          </a:p>
        </p:txBody>
      </p:sp>
      <p:sp>
        <p:nvSpPr>
          <p:cNvPr id="3" name="text-10-2">
            <a:extLst>
              <a:ext uri="{FF2B5EF4-FFF2-40B4-BE49-F238E27FC236}">
                <a16:creationId xmlns:a16="http://schemas.microsoft.com/office/drawing/2014/main" id="{AAAB04C2-3EED-4E8A-9023-7401489BE1D2}"/>
              </a:ext>
            </a:extLst>
          </p:cNvPr>
          <p:cNvSpPr>
            <a:spLocks noGrp="1"/>
          </p:cNvSpPr>
          <p:nvPr/>
        </p:nvSpPr>
        <p:spPr>
          <a:xfrm>
            <a:off x="7981950" y="1743075"/>
            <a:ext cx="3524250" cy="790575"/>
          </a:xfrm>
          <a:prstGeom prst="rect">
            <a:avLst/>
          </a:prstGeom>
          <a:noFill/>
          <a:ln w="0">
            <a:noFill/>
          </a:ln>
        </p:spPr>
        <p:txBody>
          <a:bodyPr wrap="none" lIns="0" tIns="0" rIns="0" bIns="0" anchor="t">
            <a:noAutofit/>
          </a:bodyPr>
          <a:lstStyle/>
          <a:p>
            <a:pPr algn="r" rtl="1">
              <a:lnSpc>
                <a:spcPct val="122000"/>
              </a:lnSpc>
              <a:buNone/>
              <a:defRPr sz="4500" b="1">
                <a:solidFill>
                  <a:srgbClr val="2457D6"/>
                </a:solidFill>
                <a:latin typeface="Vazirmatn"/>
                <a:ea typeface="Vazirmatn"/>
                <a:cs typeface="Vazirmatn"/>
              </a:defRPr>
            </a:pPr>
            <a:r>
              <a:rPr lang="fa-IR" sz="4500" b="1">
                <a:solidFill>
                  <a:srgbClr val="2457D6"/>
                </a:solidFill>
                <a:latin typeface="Vazirmatn"/>
                <a:ea typeface="Vazirmatn"/>
                <a:cs typeface="Vazirmatn"/>
              </a:rPr>
              <a:t>۱</a:t>
            </a:r>
          </a:p>
        </p:txBody>
      </p:sp>
      <p:sp>
        <p:nvSpPr>
          <p:cNvPr id="4" name="text-10-3">
            <a:extLst>
              <a:ext uri="{FF2B5EF4-FFF2-40B4-BE49-F238E27FC236}">
                <a16:creationId xmlns:a16="http://schemas.microsoft.com/office/drawing/2014/main" id="{944B02C1-5535-46E1-8503-56E037471466}"/>
              </a:ext>
            </a:extLst>
          </p:cNvPr>
          <p:cNvSpPr>
            <a:spLocks noGrp="1"/>
          </p:cNvSpPr>
          <p:nvPr/>
        </p:nvSpPr>
        <p:spPr>
          <a:xfrm>
            <a:off x="7981950" y="2781300"/>
            <a:ext cx="352425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شناخت خرید واقعی</a:t>
            </a:r>
          </a:p>
        </p:txBody>
      </p:sp>
      <p:sp>
        <p:nvSpPr>
          <p:cNvPr id="5" name="text-10-4">
            <a:extLst>
              <a:ext uri="{FF2B5EF4-FFF2-40B4-BE49-F238E27FC236}">
                <a16:creationId xmlns:a16="http://schemas.microsoft.com/office/drawing/2014/main" id="{5AED36C1-20A1-4221-A1C8-930189357106}"/>
              </a:ext>
            </a:extLst>
          </p:cNvPr>
          <p:cNvSpPr>
            <a:spLocks noGrp="1"/>
          </p:cNvSpPr>
          <p:nvPr/>
        </p:nvSpPr>
        <p:spPr>
          <a:xfrm>
            <a:off x="7981950" y="3648075"/>
            <a:ext cx="3524250" cy="1085850"/>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گفت‌وگو با مالکان، مسئولان خرید</a:t>
            </a:r>
          </a:p>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و کارکنان درباره خریدهای اخیر</a:t>
            </a:r>
          </a:p>
        </p:txBody>
      </p:sp>
      <p:sp>
        <p:nvSpPr>
          <p:cNvPr id="6" name="text-10-5">
            <a:extLst>
              <a:ext uri="{FF2B5EF4-FFF2-40B4-BE49-F238E27FC236}">
                <a16:creationId xmlns:a16="http://schemas.microsoft.com/office/drawing/2014/main" id="{BE0270EC-48DD-453A-ACD0-A1969215217A}"/>
              </a:ext>
            </a:extLst>
          </p:cNvPr>
          <p:cNvSpPr>
            <a:spLocks noGrp="1"/>
          </p:cNvSpPr>
          <p:nvPr/>
        </p:nvSpPr>
        <p:spPr>
          <a:xfrm>
            <a:off x="4248150" y="1743075"/>
            <a:ext cx="3524250" cy="790575"/>
          </a:xfrm>
          <a:prstGeom prst="rect">
            <a:avLst/>
          </a:prstGeom>
          <a:noFill/>
          <a:ln w="0">
            <a:noFill/>
          </a:ln>
        </p:spPr>
        <p:txBody>
          <a:bodyPr wrap="none" lIns="0" tIns="0" rIns="0" bIns="0" anchor="t">
            <a:noAutofit/>
          </a:bodyPr>
          <a:lstStyle/>
          <a:p>
            <a:pPr algn="r" rtl="1">
              <a:lnSpc>
                <a:spcPct val="122000"/>
              </a:lnSpc>
              <a:buNone/>
              <a:defRPr sz="4500" b="1">
                <a:solidFill>
                  <a:srgbClr val="2457D6"/>
                </a:solidFill>
                <a:latin typeface="Vazirmatn"/>
                <a:ea typeface="Vazirmatn"/>
                <a:cs typeface="Vazirmatn"/>
              </a:defRPr>
            </a:pPr>
            <a:r>
              <a:rPr lang="fa-IR" sz="4500" b="1">
                <a:solidFill>
                  <a:srgbClr val="2457D6"/>
                </a:solidFill>
                <a:latin typeface="Vazirmatn"/>
                <a:ea typeface="Vazirmatn"/>
                <a:cs typeface="Vazirmatn"/>
              </a:rPr>
              <a:t>۲</a:t>
            </a:r>
          </a:p>
        </p:txBody>
      </p:sp>
      <p:sp>
        <p:nvSpPr>
          <p:cNvPr id="7" name="text-10-6">
            <a:extLst>
              <a:ext uri="{FF2B5EF4-FFF2-40B4-BE49-F238E27FC236}">
                <a16:creationId xmlns:a16="http://schemas.microsoft.com/office/drawing/2014/main" id="{B49ADCDF-5F9D-4D0E-9DD1-CBE636234DE3}"/>
              </a:ext>
            </a:extLst>
          </p:cNvPr>
          <p:cNvSpPr>
            <a:spLocks noGrp="1"/>
          </p:cNvSpPr>
          <p:nvPr/>
        </p:nvSpPr>
        <p:spPr>
          <a:xfrm>
            <a:off x="4248150" y="2781300"/>
            <a:ext cx="352425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آزمون یک سبد محدود</a:t>
            </a:r>
          </a:p>
        </p:txBody>
      </p:sp>
      <p:sp>
        <p:nvSpPr>
          <p:cNvPr id="8" name="text-10-7">
            <a:extLst>
              <a:ext uri="{FF2B5EF4-FFF2-40B4-BE49-F238E27FC236}">
                <a16:creationId xmlns:a16="http://schemas.microsoft.com/office/drawing/2014/main" id="{013514A0-9A1C-4809-8876-B8EA1C31C5F3}"/>
              </a:ext>
            </a:extLst>
          </p:cNvPr>
          <p:cNvSpPr>
            <a:spLocks noGrp="1"/>
          </p:cNvSpPr>
          <p:nvPr/>
        </p:nvSpPr>
        <p:spPr>
          <a:xfrm>
            <a:off x="4248150" y="3648075"/>
            <a:ext cx="3524250" cy="1085850"/>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هماهنگی با تأمین‌کنندگان منتخب</a:t>
            </a:r>
          </a:p>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و ثبت مسیر نیاز تا تحویل</a:t>
            </a:r>
          </a:p>
        </p:txBody>
      </p:sp>
      <p:sp>
        <p:nvSpPr>
          <p:cNvPr id="9" name="text-10-8">
            <a:extLst>
              <a:ext uri="{FF2B5EF4-FFF2-40B4-BE49-F238E27FC236}">
                <a16:creationId xmlns:a16="http://schemas.microsoft.com/office/drawing/2014/main" id="{7ABCF1FB-0DE6-439B-BE67-50A5862FAD83}"/>
              </a:ext>
            </a:extLst>
          </p:cNvPr>
          <p:cNvSpPr>
            <a:spLocks noGrp="1"/>
          </p:cNvSpPr>
          <p:nvPr/>
        </p:nvSpPr>
        <p:spPr>
          <a:xfrm>
            <a:off x="514350" y="1743075"/>
            <a:ext cx="3524250" cy="790575"/>
          </a:xfrm>
          <a:prstGeom prst="rect">
            <a:avLst/>
          </a:prstGeom>
          <a:noFill/>
          <a:ln w="0">
            <a:noFill/>
          </a:ln>
        </p:spPr>
        <p:txBody>
          <a:bodyPr wrap="none" lIns="0" tIns="0" rIns="0" bIns="0" anchor="t">
            <a:noAutofit/>
          </a:bodyPr>
          <a:lstStyle/>
          <a:p>
            <a:pPr algn="r" rtl="1">
              <a:lnSpc>
                <a:spcPct val="122000"/>
              </a:lnSpc>
              <a:buNone/>
              <a:defRPr sz="4500" b="1">
                <a:solidFill>
                  <a:srgbClr val="2457D6"/>
                </a:solidFill>
                <a:latin typeface="Vazirmatn"/>
                <a:ea typeface="Vazirmatn"/>
                <a:cs typeface="Vazirmatn"/>
              </a:defRPr>
            </a:pPr>
            <a:r>
              <a:rPr lang="fa-IR" sz="4500" b="1">
                <a:solidFill>
                  <a:srgbClr val="2457D6"/>
                </a:solidFill>
                <a:latin typeface="Vazirmatn"/>
                <a:ea typeface="Vazirmatn"/>
                <a:cs typeface="Vazirmatn"/>
              </a:rPr>
              <a:t>۳</a:t>
            </a:r>
          </a:p>
        </p:txBody>
      </p:sp>
      <p:sp>
        <p:nvSpPr>
          <p:cNvPr id="10" name="text-10-9">
            <a:extLst>
              <a:ext uri="{FF2B5EF4-FFF2-40B4-BE49-F238E27FC236}">
                <a16:creationId xmlns:a16="http://schemas.microsoft.com/office/drawing/2014/main" id="{71A98998-C24F-42A6-B420-4E5EA886A8A5}"/>
              </a:ext>
            </a:extLst>
          </p:cNvPr>
          <p:cNvSpPr>
            <a:spLocks noGrp="1"/>
          </p:cNvSpPr>
          <p:nvPr/>
        </p:nvSpPr>
        <p:spPr>
          <a:xfrm>
            <a:off x="514350" y="2781300"/>
            <a:ext cx="3524250" cy="523875"/>
          </a:xfrm>
          <a:prstGeom prst="rect">
            <a:avLst/>
          </a:prstGeom>
          <a:noFill/>
          <a:ln w="0">
            <a:noFill/>
          </a:ln>
        </p:spPr>
        <p:txBody>
          <a:bodyPr wrap="none" lIns="0" tIns="0" rIns="0" bIns="0" anchor="t">
            <a:noAutofit/>
          </a:bodyPr>
          <a:lstStyle/>
          <a:p>
            <a:pPr algn="r" rtl="1">
              <a:lnSpc>
                <a:spcPct val="122000"/>
              </a:lnSpc>
              <a:buNone/>
              <a:defRPr sz="2250" b="1">
                <a:solidFill>
                  <a:srgbClr val="142B4A"/>
                </a:solidFill>
                <a:latin typeface="Vazirmatn"/>
                <a:ea typeface="Vazirmatn"/>
                <a:cs typeface="Vazirmatn"/>
              </a:defRPr>
            </a:pPr>
            <a:r>
              <a:rPr lang="fa-IR" sz="2250" b="1">
                <a:solidFill>
                  <a:srgbClr val="142B4A"/>
                </a:solidFill>
                <a:latin typeface="Vazirmatn"/>
                <a:ea typeface="Vazirmatn"/>
                <a:cs typeface="Vazirmatn"/>
              </a:rPr>
              <a:t>اصلاح و تکرار</a:t>
            </a:r>
          </a:p>
        </p:txBody>
      </p:sp>
      <p:sp>
        <p:nvSpPr>
          <p:cNvPr id="11" name="text-10-10">
            <a:extLst>
              <a:ext uri="{FF2B5EF4-FFF2-40B4-BE49-F238E27FC236}">
                <a16:creationId xmlns:a16="http://schemas.microsoft.com/office/drawing/2014/main" id="{4CD0BDAD-4767-42D0-9BF9-0F3A6916E19D}"/>
              </a:ext>
            </a:extLst>
          </p:cNvPr>
          <p:cNvSpPr>
            <a:spLocks noGrp="1"/>
          </p:cNvSpPr>
          <p:nvPr/>
        </p:nvSpPr>
        <p:spPr>
          <a:xfrm>
            <a:off x="514350" y="3648075"/>
            <a:ext cx="3524250" cy="1085850"/>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بررسی خطا، زمان و بازخرید</a:t>
            </a:r>
          </a:p>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برای اصلاح تجربه خدمت</a:t>
            </a:r>
          </a:p>
        </p:txBody>
      </p:sp>
      <p:sp>
        <p:nvSpPr>
          <p:cNvPr id="12" name="text-10-11">
            <a:extLst>
              <a:ext uri="{FF2B5EF4-FFF2-40B4-BE49-F238E27FC236}">
                <a16:creationId xmlns:a16="http://schemas.microsoft.com/office/drawing/2014/main" id="{2B5D7621-D78F-4050-B878-47EB4AF1CBB8}"/>
              </a:ext>
            </a:extLst>
          </p:cNvPr>
          <p:cNvSpPr>
            <a:spLocks noGrp="1"/>
          </p:cNvSpPr>
          <p:nvPr/>
        </p:nvSpPr>
        <p:spPr>
          <a:xfrm>
            <a:off x="685800" y="5381625"/>
            <a:ext cx="10820400" cy="638175"/>
          </a:xfrm>
          <a:prstGeom prst="rect">
            <a:avLst/>
          </a:prstGeom>
          <a:noFill/>
          <a:ln w="0">
            <a:noFill/>
          </a:ln>
        </p:spPr>
        <p:txBody>
          <a:bodyPr wrap="none" lIns="0" tIns="0" rIns="0" bIns="0" anchor="t">
            <a:noAutofit/>
          </a:bodyPr>
          <a:lstStyle/>
          <a:p>
            <a:pPr algn="r" rtl="1">
              <a:lnSpc>
                <a:spcPct val="122000"/>
              </a:lnSpc>
              <a:buNone/>
              <a:defRPr sz="2325" b="1">
                <a:solidFill>
                  <a:srgbClr val="2457D6"/>
                </a:solidFill>
                <a:latin typeface="Vazirmatn"/>
                <a:ea typeface="Vazirmatn"/>
                <a:cs typeface="Vazirmatn"/>
              </a:defRPr>
            </a:pPr>
            <a:r>
              <a:rPr lang="fa-IR" sz="2325" b="1">
                <a:solidFill>
                  <a:srgbClr val="2457D6"/>
                </a:solidFill>
                <a:latin typeface="Vazirmatn"/>
                <a:ea typeface="Vazirmatn"/>
                <a:cs typeface="Vazirmatn"/>
              </a:rPr>
              <a:t>هدف‌های عددی پس از ثبت خط مبنا تعیین می‌شوند.</a:t>
            </a:r>
          </a:p>
        </p:txBody>
      </p:sp>
    </p:spTree>
    <p:extLst>
      <p:ext uri="{BB962C8B-B14F-4D97-AF65-F5344CB8AC3E}">
        <p14:creationId xmlns:p14="http://schemas.microsoft.com/office/powerpoint/2010/main" val="1130041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11-0">
            <a:extLst>
              <a:ext uri="{FF2B5EF4-FFF2-40B4-BE49-F238E27FC236}">
                <a16:creationId xmlns:a16="http://schemas.microsoft.com/office/drawing/2014/main" id="{F926F9CA-492C-4A4E-9BC1-7959FF44ADD0}"/>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شواهد لازم برای تصمیم سرمایه‌گذاری</a:t>
            </a:r>
          </a:p>
        </p:txBody>
      </p:sp>
      <p:sp>
        <p:nvSpPr>
          <p:cNvPr id="2" name="text-11-1">
            <a:extLst>
              <a:ext uri="{FF2B5EF4-FFF2-40B4-BE49-F238E27FC236}">
                <a16:creationId xmlns:a16="http://schemas.microsoft.com/office/drawing/2014/main" id="{A79AB201-B9F8-4B20-8CC3-6F3BB3018D24}"/>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۱۱</a:t>
            </a:r>
          </a:p>
        </p:txBody>
      </p:sp>
      <p:sp>
        <p:nvSpPr>
          <p:cNvPr id="3" name="text-11-2">
            <a:extLst>
              <a:ext uri="{FF2B5EF4-FFF2-40B4-BE49-F238E27FC236}">
                <a16:creationId xmlns:a16="http://schemas.microsoft.com/office/drawing/2014/main" id="{930B71FF-72C5-48CF-BBA0-E0BA0C206C12}"/>
              </a:ext>
            </a:extLst>
          </p:cNvPr>
          <p:cNvSpPr>
            <a:spLocks noGrp="1"/>
          </p:cNvSpPr>
          <p:nvPr/>
        </p:nvSpPr>
        <p:spPr>
          <a:xfrm>
            <a:off x="6915150" y="1695450"/>
            <a:ext cx="4591050" cy="552450"/>
          </a:xfrm>
          <a:prstGeom prst="rect">
            <a:avLst/>
          </a:prstGeom>
          <a:noFill/>
          <a:ln w="0">
            <a:noFill/>
          </a:ln>
        </p:spPr>
        <p:txBody>
          <a:bodyPr wrap="none" lIns="0" tIns="0" rIns="0" bIns="0" anchor="t">
            <a:noAutofit/>
          </a:bodyPr>
          <a:lstStyle/>
          <a:p>
            <a:pPr algn="r" rtl="1">
              <a:lnSpc>
                <a:spcPct val="122000"/>
              </a:lnSpc>
              <a:buNone/>
              <a:defRPr sz="2550" b="1">
                <a:solidFill>
                  <a:srgbClr val="2457D6"/>
                </a:solidFill>
                <a:latin typeface="Vazirmatn"/>
                <a:ea typeface="Vazirmatn"/>
                <a:cs typeface="Vazirmatn"/>
              </a:defRPr>
            </a:pPr>
            <a:r>
              <a:rPr lang="fa-IR" sz="2550" b="1">
                <a:solidFill>
                  <a:srgbClr val="2457D6"/>
                </a:solidFill>
                <a:latin typeface="Vazirmatn"/>
                <a:ea typeface="Vazirmatn"/>
                <a:cs typeface="Vazirmatn"/>
              </a:rPr>
              <a:t>کیفیت تجربه خرید</a:t>
            </a:r>
          </a:p>
        </p:txBody>
      </p:sp>
      <p:sp>
        <p:nvSpPr>
          <p:cNvPr id="4" name="text-11-3">
            <a:extLst>
              <a:ext uri="{FF2B5EF4-FFF2-40B4-BE49-F238E27FC236}">
                <a16:creationId xmlns:a16="http://schemas.microsoft.com/office/drawing/2014/main" id="{1EEEE42E-20E2-4A6F-BEA1-7EFD3C12D6A1}"/>
              </a:ext>
            </a:extLst>
          </p:cNvPr>
          <p:cNvSpPr>
            <a:spLocks noGrp="1"/>
          </p:cNvSpPr>
          <p:nvPr/>
        </p:nvSpPr>
        <p:spPr>
          <a:xfrm>
            <a:off x="6324600" y="2628900"/>
            <a:ext cx="5181600" cy="2667000"/>
          </a:xfrm>
          <a:prstGeom prst="rect">
            <a:avLst/>
          </a:prstGeom>
          <a:noFill/>
          <a:ln w="0">
            <a:noFill/>
          </a:ln>
        </p:spPr>
        <p:txBody>
          <a:bodyPr wrap="none" lIns="0" tIns="0" rIns="0" bIns="0" anchor="t">
            <a:noAutofit/>
          </a:bodyPr>
          <a:lstStyle/>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زمان تکمیل خرید</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خطاهای اصلاح‌شده</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تحویل در بازه اعلام‌شده</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نرخ خرید مجدد</a:t>
            </a:r>
          </a:p>
        </p:txBody>
      </p:sp>
      <p:sp>
        <p:nvSpPr>
          <p:cNvPr id="5" name="text-11-4">
            <a:extLst>
              <a:ext uri="{FF2B5EF4-FFF2-40B4-BE49-F238E27FC236}">
                <a16:creationId xmlns:a16="http://schemas.microsoft.com/office/drawing/2014/main" id="{250947F9-0ED4-49BC-978E-8B42EF60719F}"/>
              </a:ext>
            </a:extLst>
          </p:cNvPr>
          <p:cNvSpPr>
            <a:spLocks noGrp="1"/>
          </p:cNvSpPr>
          <p:nvPr/>
        </p:nvSpPr>
        <p:spPr>
          <a:xfrm>
            <a:off x="685800" y="1695450"/>
            <a:ext cx="4819650" cy="552450"/>
          </a:xfrm>
          <a:prstGeom prst="rect">
            <a:avLst/>
          </a:prstGeom>
          <a:noFill/>
          <a:ln w="0">
            <a:noFill/>
          </a:ln>
        </p:spPr>
        <p:txBody>
          <a:bodyPr wrap="none" lIns="0" tIns="0" rIns="0" bIns="0" anchor="t">
            <a:noAutofit/>
          </a:bodyPr>
          <a:lstStyle/>
          <a:p>
            <a:pPr algn="r" rtl="1">
              <a:lnSpc>
                <a:spcPct val="122000"/>
              </a:lnSpc>
              <a:buNone/>
              <a:defRPr sz="2550" b="1">
                <a:solidFill>
                  <a:srgbClr val="2457D6"/>
                </a:solidFill>
                <a:latin typeface="Vazirmatn"/>
                <a:ea typeface="Vazirmatn"/>
                <a:cs typeface="Vazirmatn"/>
              </a:defRPr>
            </a:pPr>
            <a:r>
              <a:rPr lang="fa-IR" sz="2550" b="1">
                <a:solidFill>
                  <a:srgbClr val="2457D6"/>
                </a:solidFill>
                <a:latin typeface="Vazirmatn"/>
                <a:ea typeface="Vazirmatn"/>
                <a:cs typeface="Vazirmatn"/>
              </a:rPr>
              <a:t>اقتصاد کسب‌وکار</a:t>
            </a:r>
          </a:p>
        </p:txBody>
      </p:sp>
      <p:sp>
        <p:nvSpPr>
          <p:cNvPr id="6" name="text-11-5">
            <a:extLst>
              <a:ext uri="{FF2B5EF4-FFF2-40B4-BE49-F238E27FC236}">
                <a16:creationId xmlns:a16="http://schemas.microsoft.com/office/drawing/2014/main" id="{0F57207A-878E-4508-8588-B84203ED61E1}"/>
              </a:ext>
            </a:extLst>
          </p:cNvPr>
          <p:cNvSpPr>
            <a:spLocks noGrp="1"/>
          </p:cNvSpPr>
          <p:nvPr/>
        </p:nvSpPr>
        <p:spPr>
          <a:xfrm>
            <a:off x="685800" y="2628900"/>
            <a:ext cx="4819650" cy="2667000"/>
          </a:xfrm>
          <a:prstGeom prst="rect">
            <a:avLst/>
          </a:prstGeom>
          <a:noFill/>
          <a:ln w="0">
            <a:noFill/>
          </a:ln>
        </p:spPr>
        <p:txBody>
          <a:bodyPr wrap="none" lIns="0" tIns="0" rIns="0" bIns="0" anchor="t">
            <a:noAutofit/>
          </a:bodyPr>
          <a:lstStyle/>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درآمد اشتراک و کمیسیون</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هزینه جذب و خدمت‌رسانی</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ارزش و تکرار سبد خرید</a:t>
            </a:r>
          </a:p>
          <a:p>
            <a:pPr algn="r" rtl="1">
              <a:lnSpc>
                <a:spcPct val="122000"/>
              </a:lnSpc>
              <a:buNone/>
              <a:defRPr sz="2175" b="0">
                <a:solidFill>
                  <a:srgbClr val="142B4A"/>
                </a:solidFill>
                <a:latin typeface="Vazirmatn"/>
                <a:ea typeface="Vazirmatn"/>
                <a:cs typeface="Vazirmatn"/>
              </a:defRPr>
            </a:pPr>
            <a:r>
              <a:rPr lang="fa-IR" sz="2175" b="0">
                <a:solidFill>
                  <a:srgbClr val="142B4A"/>
                </a:solidFill>
                <a:latin typeface="Vazirmatn"/>
                <a:ea typeface="Vazirmatn"/>
                <a:cs typeface="Vazirmatn"/>
              </a:rPr>
              <a:t>حاشیه مشارکت هر سفارش</a:t>
            </a:r>
          </a:p>
        </p:txBody>
      </p:sp>
      <p:sp>
        <p:nvSpPr>
          <p:cNvPr id="7" name="text-11-6">
            <a:extLst>
              <a:ext uri="{FF2B5EF4-FFF2-40B4-BE49-F238E27FC236}">
                <a16:creationId xmlns:a16="http://schemas.microsoft.com/office/drawing/2014/main" id="{3F49472D-0462-4993-A005-0F004DB0BF09}"/>
              </a:ext>
            </a:extLst>
          </p:cNvPr>
          <p:cNvSpPr>
            <a:spLocks noGrp="1"/>
          </p:cNvSpPr>
          <p:nvPr/>
        </p:nvSpPr>
        <p:spPr>
          <a:xfrm>
            <a:off x="685800" y="5800725"/>
            <a:ext cx="10820400" cy="457200"/>
          </a:xfrm>
          <a:prstGeom prst="rect">
            <a:avLst/>
          </a:prstGeom>
          <a:noFill/>
          <a:ln w="0">
            <a:noFill/>
          </a:ln>
        </p:spPr>
        <p:txBody>
          <a:bodyPr wrap="none" lIns="0" tIns="0" rIns="0" bIns="0" anchor="t">
            <a:noAutofit/>
          </a:bodyPr>
          <a:lstStyle/>
          <a:p>
            <a:pPr algn="r" rtl="1">
              <a:lnSpc>
                <a:spcPct val="122000"/>
              </a:lnSpc>
              <a:buNone/>
              <a:defRPr sz="1875" b="0">
                <a:solidFill>
                  <a:srgbClr val="58677C"/>
                </a:solidFill>
                <a:latin typeface="Vazirmatn"/>
                <a:ea typeface="Vazirmatn"/>
                <a:cs typeface="Vazirmatn"/>
              </a:defRPr>
            </a:pPr>
            <a:r>
              <a:rPr lang="fa-IR" sz="1875" b="0">
                <a:solidFill>
                  <a:srgbClr val="58677C"/>
                </a:solidFill>
                <a:latin typeface="Vazirmatn"/>
                <a:ea typeface="Vazirmatn"/>
                <a:cs typeface="Vazirmatn"/>
              </a:rPr>
              <a:t>چارچوب پیشنهادی ارزیابی، پیش از تعیین برنامه توسعه و تأمین مالی</a:t>
            </a:r>
          </a:p>
        </p:txBody>
      </p:sp>
    </p:spTree>
    <p:extLst>
      <p:ext uri="{BB962C8B-B14F-4D97-AF65-F5344CB8AC3E}">
        <p14:creationId xmlns:p14="http://schemas.microsoft.com/office/powerpoint/2010/main" val="1112217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2" name="text-12-0">
            <a:extLst>
              <a:ext uri="{FF2B5EF4-FFF2-40B4-BE49-F238E27FC236}">
                <a16:creationId xmlns:a16="http://schemas.microsoft.com/office/drawing/2014/main" id="{EC59A4FA-08C2-4808-A016-EB4CF37418F4}"/>
              </a:ext>
            </a:extLst>
          </p:cNvPr>
          <p:cNvSpPr>
            <a:spLocks noGrp="1"/>
          </p:cNvSpPr>
          <p:nvPr/>
        </p:nvSpPr>
        <p:spPr>
          <a:xfrm>
            <a:off x="685800" y="457200"/>
            <a:ext cx="10820400" cy="723900"/>
          </a:xfrm>
          <a:prstGeom prst="rect">
            <a:avLst/>
          </a:prstGeom>
          <a:noFill/>
          <a:ln w="0">
            <a:noFill/>
          </a:ln>
        </p:spPr>
        <p:txBody>
          <a:bodyPr wrap="none" lIns="0" tIns="0" rIns="0" bIns="0" anchor="t">
            <a:noAutofit/>
          </a:bodyPr>
          <a:lstStyle/>
          <a:p>
            <a:pPr algn="r" rtl="1">
              <a:lnSpc>
                <a:spcPct val="122000"/>
              </a:lnSpc>
              <a:buNone/>
              <a:defRPr sz="3300" b="1">
                <a:solidFill>
                  <a:srgbClr val="142B4A"/>
                </a:solidFill>
                <a:latin typeface="Vazirmatn"/>
                <a:ea typeface="Vazirmatn"/>
                <a:cs typeface="Vazirmatn"/>
              </a:defRPr>
            </a:pPr>
            <a:r>
              <a:rPr lang="fa-IR" sz="3300" b="1">
                <a:solidFill>
                  <a:srgbClr val="142B4A"/>
                </a:solidFill>
                <a:latin typeface="Vazirmatn"/>
                <a:ea typeface="Vazirmatn"/>
                <a:cs typeface="Vazirmatn"/>
              </a:rPr>
              <a:t>فرصت همکاری در پایلوت کرمان</a:t>
            </a:r>
          </a:p>
        </p:txBody>
      </p:sp>
      <p:sp>
        <p:nvSpPr>
          <p:cNvPr id="2" name="text-12-1">
            <a:extLst>
              <a:ext uri="{FF2B5EF4-FFF2-40B4-BE49-F238E27FC236}">
                <a16:creationId xmlns:a16="http://schemas.microsoft.com/office/drawing/2014/main" id="{C14F6C23-EDDF-406C-95F7-5B0D41F3718B}"/>
              </a:ext>
            </a:extLst>
          </p:cNvPr>
          <p:cNvSpPr>
            <a:spLocks noGrp="1"/>
          </p:cNvSpPr>
          <p:nvPr/>
        </p:nvSpPr>
        <p:spPr>
          <a:xfrm>
            <a:off x="685800" y="6324600"/>
            <a:ext cx="495300" cy="247650"/>
          </a:xfrm>
          <a:prstGeom prst="rect">
            <a:avLst/>
          </a:prstGeom>
          <a:noFill/>
          <a:ln w="0">
            <a:noFill/>
          </a:ln>
        </p:spPr>
        <p:txBody>
          <a:bodyPr wrap="none" lIns="0" tIns="0" rIns="0" bIns="0" anchor="t">
            <a:noAutofit/>
          </a:bodyPr>
          <a:lstStyle/>
          <a:p>
            <a:pPr algn="l" rtl="1">
              <a:lnSpc>
                <a:spcPct val="122000"/>
              </a:lnSpc>
              <a:buNone/>
              <a:defRPr sz="1350" b="0">
                <a:solidFill>
                  <a:srgbClr val="58677C"/>
                </a:solidFill>
                <a:latin typeface="Vazirmatn"/>
                <a:ea typeface="Vazirmatn"/>
                <a:cs typeface="Vazirmatn"/>
              </a:defRPr>
            </a:pPr>
            <a:r>
              <a:rPr lang="fa-IR" sz="1350" b="0">
                <a:solidFill>
                  <a:srgbClr val="58677C"/>
                </a:solidFill>
                <a:latin typeface="Vazirmatn"/>
                <a:ea typeface="Vazirmatn"/>
                <a:cs typeface="Vazirmatn"/>
              </a:rPr>
              <a:t>۱۲</a:t>
            </a:r>
          </a:p>
        </p:txBody>
      </p:sp>
      <p:pic>
        <p:nvPicPr>
          <p:cNvPr id="14" name="Picture 13"/>
          <p:cNvPicPr>
            <a:picLocks noChangeAspect="1"/>
          </p:cNvPicPr>
          <p:nvPr/>
        </p:nvPicPr>
        <p:blipFill>
          <a:blip r:embed="rId3"/>
          <a:stretch/>
        </p:blipFill>
        <p:spPr>
          <a:xfrm>
            <a:off x="514350" y="1628775"/>
            <a:ext cx="4019550" cy="4019550"/>
          </a:xfrm>
          <a:prstGeom prst="rect">
            <a:avLst/>
          </a:prstGeom>
        </p:spPr>
      </p:pic>
      <p:sp>
        <p:nvSpPr>
          <p:cNvPr id="4" name="text-12-2">
            <a:extLst>
              <a:ext uri="{FF2B5EF4-FFF2-40B4-BE49-F238E27FC236}">
                <a16:creationId xmlns:a16="http://schemas.microsoft.com/office/drawing/2014/main" id="{4B7CF9D7-BDF6-4194-80C4-1814EA2A8EF2}"/>
              </a:ext>
            </a:extLst>
          </p:cNvPr>
          <p:cNvSpPr>
            <a:spLocks noGrp="1"/>
          </p:cNvSpPr>
          <p:nvPr/>
        </p:nvSpPr>
        <p:spPr>
          <a:xfrm>
            <a:off x="704850" y="5810250"/>
            <a:ext cx="3638550" cy="352425"/>
          </a:xfrm>
          <a:prstGeom prst="rect">
            <a:avLst/>
          </a:prstGeom>
          <a:noFill/>
          <a:ln w="0">
            <a:noFill/>
          </a:ln>
        </p:spPr>
        <p:txBody>
          <a:bodyPr wrap="none" lIns="0" tIns="0" rIns="0" bIns="0" anchor="t">
            <a:noAutofit/>
          </a:bodyPr>
          <a:lstStyle/>
          <a:p>
            <a:pPr algn="ctr" rtl="1">
              <a:lnSpc>
                <a:spcPct val="122000"/>
              </a:lnSpc>
              <a:buNone/>
              <a:defRPr sz="1650" b="0">
                <a:solidFill>
                  <a:srgbClr val="58677C"/>
                </a:solidFill>
                <a:latin typeface="Vazirmatn"/>
                <a:ea typeface="Vazirmatn"/>
                <a:cs typeface="Vazirmatn"/>
              </a:defRPr>
            </a:pPr>
            <a:r>
              <a:rPr lang="fa-IR" sz="1650" b="0">
                <a:solidFill>
                  <a:srgbClr val="58677C"/>
                </a:solidFill>
                <a:latin typeface="Vazirmatn"/>
                <a:ea typeface="Vazirmatn"/>
                <a:cs typeface="Vazirmatn"/>
              </a:rPr>
              <a:t>روشا، راهنمای خرید</a:t>
            </a:r>
          </a:p>
        </p:txBody>
      </p:sp>
      <p:sp>
        <p:nvSpPr>
          <p:cNvPr id="5" name="text-12-3">
            <a:extLst>
              <a:ext uri="{FF2B5EF4-FFF2-40B4-BE49-F238E27FC236}">
                <a16:creationId xmlns:a16="http://schemas.microsoft.com/office/drawing/2014/main" id="{2A048FF5-736D-43C1-BCD3-87CCE7AFB273}"/>
              </a:ext>
            </a:extLst>
          </p:cNvPr>
          <p:cNvSpPr>
            <a:spLocks noGrp="1"/>
          </p:cNvSpPr>
          <p:nvPr/>
        </p:nvSpPr>
        <p:spPr>
          <a:xfrm>
            <a:off x="5143500" y="1647825"/>
            <a:ext cx="6362700" cy="4953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تأمین‌کنندگان محلی</a:t>
            </a:r>
          </a:p>
        </p:txBody>
      </p:sp>
      <p:sp>
        <p:nvSpPr>
          <p:cNvPr id="6" name="text-12-4">
            <a:extLst>
              <a:ext uri="{FF2B5EF4-FFF2-40B4-BE49-F238E27FC236}">
                <a16:creationId xmlns:a16="http://schemas.microsoft.com/office/drawing/2014/main" id="{350199B7-C63E-4692-B06B-50856DCDB630}"/>
              </a:ext>
            </a:extLst>
          </p:cNvPr>
          <p:cNvSpPr>
            <a:spLocks noGrp="1"/>
          </p:cNvSpPr>
          <p:nvPr/>
        </p:nvSpPr>
        <p:spPr>
          <a:xfrm>
            <a:off x="4857750" y="2190750"/>
            <a:ext cx="6648450" cy="51435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همکاری در فهرست کالا و شرایط تأمین روشن</a:t>
            </a:r>
          </a:p>
        </p:txBody>
      </p:sp>
      <p:sp>
        <p:nvSpPr>
          <p:cNvPr id="7" name="text-12-5">
            <a:extLst>
              <a:ext uri="{FF2B5EF4-FFF2-40B4-BE49-F238E27FC236}">
                <a16:creationId xmlns:a16="http://schemas.microsoft.com/office/drawing/2014/main" id="{2B027C70-7640-4297-BDF2-28030E173383}"/>
              </a:ext>
            </a:extLst>
          </p:cNvPr>
          <p:cNvSpPr>
            <a:spLocks noGrp="1"/>
          </p:cNvSpPr>
          <p:nvPr/>
        </p:nvSpPr>
        <p:spPr>
          <a:xfrm>
            <a:off x="5143500" y="2943225"/>
            <a:ext cx="6362700" cy="4953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کافه‌ها و رستوران‌ها</a:t>
            </a:r>
          </a:p>
        </p:txBody>
      </p:sp>
      <p:sp>
        <p:nvSpPr>
          <p:cNvPr id="8" name="text-12-6">
            <a:extLst>
              <a:ext uri="{FF2B5EF4-FFF2-40B4-BE49-F238E27FC236}">
                <a16:creationId xmlns:a16="http://schemas.microsoft.com/office/drawing/2014/main" id="{1BDA504A-B95F-40F0-AA1B-F44A619A14B0}"/>
              </a:ext>
            </a:extLst>
          </p:cNvPr>
          <p:cNvSpPr>
            <a:spLocks noGrp="1"/>
          </p:cNvSpPr>
          <p:nvPr/>
        </p:nvSpPr>
        <p:spPr>
          <a:xfrm>
            <a:off x="4857750" y="3486150"/>
            <a:ext cx="6648450" cy="51435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آزمون خرید و بازخورد درباره تجربه روزمره</a:t>
            </a:r>
          </a:p>
        </p:txBody>
      </p:sp>
      <p:sp>
        <p:nvSpPr>
          <p:cNvPr id="9" name="text-12-7">
            <a:extLst>
              <a:ext uri="{FF2B5EF4-FFF2-40B4-BE49-F238E27FC236}">
                <a16:creationId xmlns:a16="http://schemas.microsoft.com/office/drawing/2014/main" id="{1581029C-F819-4B9A-B1A1-00E4AAC02BF5}"/>
              </a:ext>
            </a:extLst>
          </p:cNvPr>
          <p:cNvSpPr>
            <a:spLocks noGrp="1"/>
          </p:cNvSpPr>
          <p:nvPr/>
        </p:nvSpPr>
        <p:spPr>
          <a:xfrm>
            <a:off x="5143500" y="4238625"/>
            <a:ext cx="6362700" cy="495300"/>
          </a:xfrm>
          <a:prstGeom prst="rect">
            <a:avLst/>
          </a:prstGeom>
          <a:noFill/>
          <a:ln w="0">
            <a:noFill/>
          </a:ln>
        </p:spPr>
        <p:txBody>
          <a:bodyPr wrap="none" lIns="0" tIns="0" rIns="0" bIns="0" anchor="t">
            <a:noAutofit/>
          </a:bodyPr>
          <a:lstStyle/>
          <a:p>
            <a:pPr algn="r" rtl="1">
              <a:lnSpc>
                <a:spcPct val="122000"/>
              </a:lnSpc>
              <a:buNone/>
              <a:defRPr sz="2325" b="1">
                <a:solidFill>
                  <a:srgbClr val="142B4A"/>
                </a:solidFill>
                <a:latin typeface="Vazirmatn"/>
                <a:ea typeface="Vazirmatn"/>
                <a:cs typeface="Vazirmatn"/>
              </a:defRPr>
            </a:pPr>
            <a:r>
              <a:rPr lang="fa-IR" sz="2325" b="1">
                <a:solidFill>
                  <a:srgbClr val="142B4A"/>
                </a:solidFill>
                <a:latin typeface="Vazirmatn"/>
                <a:ea typeface="Vazirmatn"/>
                <a:cs typeface="Vazirmatn"/>
              </a:rPr>
              <a:t>سرمایه‌گذاران و شرکای اجرایی</a:t>
            </a:r>
          </a:p>
        </p:txBody>
      </p:sp>
      <p:sp>
        <p:nvSpPr>
          <p:cNvPr id="10" name="text-12-8">
            <a:extLst>
              <a:ext uri="{FF2B5EF4-FFF2-40B4-BE49-F238E27FC236}">
                <a16:creationId xmlns:a16="http://schemas.microsoft.com/office/drawing/2014/main" id="{C387A67B-AF07-43E3-B085-458A35D7D17A}"/>
              </a:ext>
            </a:extLst>
          </p:cNvPr>
          <p:cNvSpPr>
            <a:spLocks noGrp="1"/>
          </p:cNvSpPr>
          <p:nvPr/>
        </p:nvSpPr>
        <p:spPr>
          <a:xfrm>
            <a:off x="4857750" y="4781550"/>
            <a:ext cx="6648450" cy="514350"/>
          </a:xfrm>
          <a:prstGeom prst="rect">
            <a:avLst/>
          </a:prstGeom>
          <a:noFill/>
          <a:ln w="0">
            <a:noFill/>
          </a:ln>
        </p:spPr>
        <p:txBody>
          <a:bodyPr wrap="none" lIns="0" tIns="0" rIns="0" bIns="0" anchor="t">
            <a:noAutofit/>
          </a:bodyPr>
          <a:lstStyle/>
          <a:p>
            <a:pPr algn="r" rtl="1">
              <a:lnSpc>
                <a:spcPct val="122000"/>
              </a:lnSpc>
              <a:buNone/>
              <a:defRPr sz="1950" b="0">
                <a:solidFill>
                  <a:srgbClr val="58677C"/>
                </a:solidFill>
                <a:latin typeface="Vazirmatn"/>
                <a:ea typeface="Vazirmatn"/>
                <a:cs typeface="Vazirmatn"/>
              </a:defRPr>
            </a:pPr>
            <a:r>
              <a:rPr lang="fa-IR" sz="1950" b="0">
                <a:solidFill>
                  <a:srgbClr val="58677C"/>
                </a:solidFill>
                <a:latin typeface="Vazirmatn"/>
                <a:ea typeface="Vazirmatn"/>
                <a:cs typeface="Vazirmatn"/>
              </a:rPr>
              <a:t>بررسی پایلوت، اقتصاد خرید و ظرفیت توسعه</a:t>
            </a:r>
          </a:p>
        </p:txBody>
      </p:sp>
      <p:sp>
        <p:nvSpPr>
          <p:cNvPr id="11" name="text-12-9">
            <a:extLst>
              <a:ext uri="{FF2B5EF4-FFF2-40B4-BE49-F238E27FC236}">
                <a16:creationId xmlns:a16="http://schemas.microsoft.com/office/drawing/2014/main" id="{7EA16F65-6ECD-4478-A113-C3D7452CD0D6}"/>
              </a:ext>
            </a:extLst>
          </p:cNvPr>
          <p:cNvSpPr>
            <a:spLocks noGrp="1"/>
          </p:cNvSpPr>
          <p:nvPr/>
        </p:nvSpPr>
        <p:spPr>
          <a:xfrm>
            <a:off x="4514850" y="5800725"/>
            <a:ext cx="6991350" cy="581025"/>
          </a:xfrm>
          <a:prstGeom prst="rect">
            <a:avLst/>
          </a:prstGeom>
          <a:noFill/>
          <a:ln w="0">
            <a:noFill/>
          </a:ln>
        </p:spPr>
        <p:txBody>
          <a:bodyPr wrap="none" lIns="0" tIns="0" rIns="0" bIns="0" anchor="t">
            <a:noAutofit/>
          </a:bodyPr>
          <a:lstStyle/>
          <a:p>
            <a:pPr algn="r" rtl="1">
              <a:lnSpc>
                <a:spcPct val="122000"/>
              </a:lnSpc>
              <a:buNone/>
              <a:defRPr sz="1950" b="1">
                <a:solidFill>
                  <a:srgbClr val="2457D6"/>
                </a:solidFill>
                <a:latin typeface="Vazirmatn"/>
                <a:ea typeface="Vazirmatn"/>
                <a:cs typeface="Vazirmatn"/>
              </a:defRPr>
            </a:pPr>
            <a:r>
              <a:rPr lang="fa-IR" sz="1950" b="1">
                <a:solidFill>
                  <a:srgbClr val="2457D6"/>
                </a:solidFill>
                <a:latin typeface="Vazirmatn"/>
                <a:ea typeface="Vazirmatn"/>
                <a:cs typeface="Vazirmatn"/>
              </a:rPr>
              <a:t>گام بعدی: توافق بر دامنه پایلوت و معیارهای موفقیت</a:t>
            </a:r>
          </a:p>
        </p:txBody>
      </p:sp>
    </p:spTree>
    <p:extLst>
      <p:ext uri="{BB962C8B-B14F-4D97-AF65-F5344CB8AC3E}">
        <p14:creationId xmlns:p14="http://schemas.microsoft.com/office/powerpoint/2010/main" val="163839761"/>
      </p:ext>
    </p:extLst>
  </p:cSld>
  <p:clrMapOvr>
    <a:masterClrMapping/>
  </p:clrMapOvr>
</p:sld>
</file>

<file path=ppt/theme/theme1.xml><?xml version="1.0" encoding="utf-8"?>
<a:theme xmlns:a="http://schemas.openxmlformats.org/drawingml/2006/main" name="ChatGPT">
  <a:themeElements>
    <a:clrScheme name="Sefaresh">
      <a:dk1>
        <a:srgbClr val="202B3C"/>
      </a:dk1>
      <a:lt1>
        <a:srgbClr val="FFFFFF"/>
      </a:lt1>
      <a:dk2>
        <a:srgbClr val="142B4A"/>
      </a:dk2>
      <a:lt2>
        <a:srgbClr val="EAF2FF"/>
      </a:lt2>
      <a:accent1>
        <a:srgbClr val="2457D6"/>
      </a:accent1>
      <a:accent2>
        <a:srgbClr val="FFAD33"/>
      </a:accent2>
      <a:accent3>
        <a:srgbClr val="142B4A"/>
      </a:accent3>
      <a:accent4>
        <a:srgbClr val="16764A"/>
      </a:accent4>
      <a:accent5>
        <a:srgbClr val="B42318"/>
      </a:accent5>
      <a:accent6>
        <a:srgbClr val="58677C"/>
      </a:accent6>
      <a:hlink>
        <a:srgbClr val="2457D6"/>
      </a:hlink>
      <a:folHlink>
        <a:srgbClr val="142B4A"/>
      </a:folHlink>
    </a:clrScheme>
    <a:fontScheme name="Office">
      <a:majorFont>
        <a:latin typeface="Calibri Light"/>
        <a:ea typeface="Calibri Light"/>
        <a:cs typeface="Calibri Light"/>
      </a:majorFont>
      <a:minorFont>
        <a:latin typeface="Calibri"/>
        <a:ea typeface="Calibri"/>
        <a:cs typeface="Calibri"/>
      </a:minorFont>
    </a:fontScheme>
    <a:fmtScheme name="Sefares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Sefaresh">
      <a:dk1>
        <a:srgbClr val="202B3C"/>
      </a:dk1>
      <a:lt1>
        <a:srgbClr val="FFFFFF"/>
      </a:lt1>
      <a:dk2>
        <a:srgbClr val="142B4A"/>
      </a:dk2>
      <a:lt2>
        <a:srgbClr val="EAF2FF"/>
      </a:lt2>
      <a:accent1>
        <a:srgbClr val="2457D6"/>
      </a:accent1>
      <a:accent2>
        <a:srgbClr val="FFAD33"/>
      </a:accent2>
      <a:accent3>
        <a:srgbClr val="142B4A"/>
      </a:accent3>
      <a:accent4>
        <a:srgbClr val="16764A"/>
      </a:accent4>
      <a:accent5>
        <a:srgbClr val="B42318"/>
      </a:accent5>
      <a:accent6>
        <a:srgbClr val="58677C"/>
      </a:accent6>
      <a:hlink>
        <a:srgbClr val="2457D6"/>
      </a:hlink>
      <a:folHlink>
        <a:srgbClr val="142B4A"/>
      </a:folHlink>
    </a:clrScheme>
    <a:fontScheme name="Office">
      <a:majorFont>
        <a:latin typeface="Calibri Light"/>
        <a:ea typeface="Calibri Light"/>
        <a:cs typeface="Calibri Light"/>
      </a:majorFont>
      <a:minorFont>
        <a:latin typeface="Calibri"/>
        <a:ea typeface="Calibri"/>
        <a:cs typeface="Calibri"/>
      </a:minorFont>
    </a:fontScheme>
    <a:fmtScheme name="Sefares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1176</Words>
  <Application>Microsoft Office PowerPoint</Application>
  <DocSecurity>0</DocSecurity>
  <PresentationFormat>Widescreen</PresentationFormat>
  <Paragraphs>154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Vazirmatn</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ardeshir azari</cp:lastModifiedBy>
  <cp:revision>1</cp:revision>
  <dcterms:created xsi:type="dcterms:W3CDTF">2026-09-18T10:33:06Z</dcterms:created>
  <dcterms:modified xsi:type="dcterms:W3CDTF">2026-09-18T10:33:26Z</dcterms:modified>
</cp:coreProperties>
</file>